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Handover of the CJAP conversation robot. Everything presented traces to the repository at the commit on this slide, or to a named pilot document. Figures are labelled Target or Measured throughout. Slides carrying [TO CONFIRM] are deliberate: those numbers were never measured and are not estimated 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paid Claude calls per turn. The voice is a clone of the Chief Justice's own, licensed through ElevenLabs. The robot never claims to be a machine and never invents a view he did not publish. Three parts: the robot is embodiment only; the corpus is the ground truth; Claude does routing and composition. The persona rule (2026-08-09) is that it answers in the first person AS the Chief Justice and deflects machinery questions with humour — it never describes itself as an AI. That is enforced in three places: the voice card, a zero-cost rule gate before audio exists, and an asynchronous Haiku audit.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1 is the router (Haiku 4.5, claude-haiku-4-5-20251001), capped at 160 output tokens because every router token delays speech. Call 2 is the composer (Sonnet 4.6, claude-sonnet-4-6), streamed sentence by sentence so the robot starts speaking before the answer is finished. The filler plays during the gap so the visitor never hears silence. Two more Haiku calls — the dynamic filler and the fidelity audit — sit off the critical path and add no delay. A canned match short-circuits the whole thing with zero Claude calls.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as the resilience map. Everything local keeps working without internet: the wake word, the gates, the canned answers, retrieval. Everything marked API stops without internet or credits. The single weakest link is STT — it has no automatic failover. A local faster-whisper backend exists as a config switch (LOCAL_STT_MODEL) and was recommended by the pilot as the main latency fix, but was never wired. Piper is not in the live path; it appears only as a legacy laptop-only setting.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document is a paired .md text file and .json metadata file. Curated from a 15-column spreadsheet with source text matched per document. One biography row was skipped: no single publication date, and placeholders are forbidden. The 96.7% figure comes from the repository's own 30-question smoke set, reports/smoke_test_summary.json. The design bet was that a hand-curated index beats statistical search on a small, dense corpus. The smoke set measured 96.7% primary-routing pass against an 85% target, with zero fabricated citations. One documented routing miss exists — the JMSU question — recorded in docs/lessons/LL-011. Keep that question off a live stage. Note the 1,109-document corpus you may have heard about is a different repository; see the second-to-last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visitor-felt number is 4.9 to 6.2 seconds from the end of their question to the first spoken word — measured 2026-08-21 after the latency work. Before streaming it was 15 to 20 seconds. The README target is 4 seconds end to end, so this is close but not met. Two stages on this slide have never been measured on the robot itself: routing and generating. They are logged per turn to the maintenance page; nobody has summarised them. That is an open item with an owner.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battery capacity, runtime on a full charge, recharge time or idle-versus-active power figure exists anywhere in the repository. Figures here are not inferred from datasheets. The search covered battery, charge, discharge, mAh, watt and power-draw terms and found nothing but corpus prose. Datasheet figures are refused here because they cannot account for the mic array, the always-on wake model, Bluetooth audio or the motors. To close it: full charge, run the normal turn cycle to shutdown, log wall-clock runtime and turn count, then a timed recharge — one afternoon of work. This slide is deliberately empty of numbers. Every figure that belongs here would have been a guess, and a plausible guess on a handover slide is worse than a blank. If the client plans to run the robot away from mains power — at a museum stand, for example — this test must happen before that commitment is made. It is cheap: one timed discharge and one timed recharge.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providers are metered in app/usage_meter.py; only Anthropic has been converted to dollars. Canned answers cost nothing at all. The $0.025 figure is derived, not measured directly: the robot logged 8 composer calls across 79,760 tokens at roughly $0.20 in one service session. It is Anthropic only. The bill is input-heavy by design — every answer carries the persona and the retrieved documents in with it — and prompt caching already bills cached input at one tenth. Cost is not the problem here; at a thousand questions a month this is roughly twenty-five dollars.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targets are met and two are missed, and the misses are modest. The latency miss has a known fix that was recommended and never implemented: move speech-to-text to a local model, which removes one to one-and-a-half seconds and one paid API call at the same time. The cost miss is small in absolute terms. What matters more than either is the list in the amber box — those are the numbers nobody has, and they are named here rather than filled with plausible guesses.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one screen plus a collapsed settings sidebar. The app cannot be launched in the handover environment: app/.env is absent and dashboard.py calls st.stop() when ANTHROPIC_API_KEY is unset, so no screenshots are included. The Sources panel shows routed topics, confidence and the documents used. This is the laptop demo surface, not the robot. It is the fallback if robot audio fails on the day — same pipeline, answer read from the screen. The Sources expander is the trust feature: it shows which topics the router picked, how confident it was, and which of the Chief Justice's documents the answer came from. No screenshots are included because the application needs three live API keys that are correctly kept out of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wake and stop meters are on the same page. Sibling pages are /audience, /avatar, /event, /notes and /canned-qa. Card inventory read from deploy/pi/dashboard/ui_page_maintenance.py, a 44 KB page served behind a key gate. Operators can also adjust tuning, pair a Bluetooth speaker, and reach the troubleshooting root page and /canned-qa. This is where an operator lives during a session. The two cards that matter most on a demo day are Health — is everything running — and Current turn, which shows what the last question cost in cents and the running total. Stage latency is the card that already holds the per-turn timings nobody has summarised; the open item on the performance slide is reading this card systematically, not building anything new.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robot boots itself; /maintain carries cost and timings. Never change settings during demo week. The 26 checks cover services, keys, wake model, audio hardware and all three providers. /audience is the visitor display. Also never let the credit balance reach zero: the robot degrades to a polite in-voice line and gives no real answer. The health check is the whole operations story: one command, 26 checks, and a single pass line. Its exit code equals the number of failures, so it can be scripted. If it prints anything other than ALL CHECKS PASSED, do not start the session. On shutdown: the repository documents a reboot for first-run setup but never specifies an approved power-off sequence for this hardware, so that is carried as an open item rather than guessed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of these five are audio or network, not AI. The wake threshold is the one real tuning trade-off: it currently sits low at 0.08, which means the phrase “chief justice” spoken at a sleeping robot can wake it. The configuration file documents the remedy and the direction to move in either case. The barge-in issue is physics — echo cancellation covers the internal speaker only, so a Bluetooth speaker will sometimes let the robot hear itself.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items, every one with a named owner and a deadline tied to a real event rather than a date. The full register in the written deliverables has fifteen rows including documentation drift and repository questions; these seven are the ones that affect what the client can do with the robot. None of them blocks operating it today with an attendant present and mains power.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repository holds 1,109 documents and a hybrid retrieval engine. The pilot engine is bge-base embeddings plus BM25 keyword matching, fused, over 9,865 chunks. Any pilot figure quoted in the written deliverables is labelled 'source: pilot brain repo — not reproducible from this handover'. Also not included: the roughly 150-speech expansion, a web UI, multi-user sessions, and memory beyond the current conversation. This is the most important slide for setting expectations. If someone has seen the pilot report — with its 1,109 documents, its 94% recall figure and its two-cent answers — that system is not what is being handed over. It lives in a separate repository that was never merged into this one. Confirming which repository is canonical, and whether the two are meant to converge, is a decision for the project owners, not an engineering task.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evidence is reports/smoke_test_summary.json. The pilot documents are CJP_Pilot_Report_W3_5_FINAL.md, CJP_Latency_Cost_Assessment.md, CJP_Readiness_Verdict_Brief.md and the pilot workbook Weekly Tasks sheet, 2026-08-22 copy. Written companions to this deck are CJAP_Client_Turnover.docx, CJAP_Internal_Playbook.docx and the four one-page summaries. Nothing in this deck was estimated. Where a number was never measured it says [TO CONFIRM] with an owner, and where a figure comes from the separate pilot repository it is labelled as not reproducible from this handover. The pilot workbook copy used is dated 2026-08-22; its version number could not be confirmed because the file on disk carries a system-generated name rather than a version.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Picture 2" descr="header_banner.png"/>
          <p:cNvPicPr>
            <a:picLocks noChangeAspect="1"/>
          </p:cNvPicPr>
          <p:nvPr/>
        </p:nvPicPr>
        <p:blipFill>
          <a:blip r:embed="rId2"/>
          <a:stretch>
            <a:fillRect/>
          </a:stretch>
        </p:blipFill>
        <p:spPr>
          <a:xfrm>
            <a:off x="0" y="0"/>
            <a:ext cx="12191695" cy="2065683"/>
          </a:xfrm>
          <a:prstGeom prst="rect">
            <a:avLst/>
          </a:prstGeom>
        </p:spPr>
      </p:pic>
      <p:sp>
        <p:nvSpPr>
          <p:cNvPr id="4" name="TextBox 3"/>
          <p:cNvSpPr txBox="1"/>
          <p:nvPr/>
        </p:nvSpPr>
        <p:spPr>
          <a:xfrm>
            <a:off x="822960" y="2240280"/>
            <a:ext cx="10515600" cy="1097280"/>
          </a:xfrm>
          <a:prstGeom prst="rect">
            <a:avLst/>
          </a:prstGeom>
          <a:noFill/>
        </p:spPr>
        <p:txBody>
          <a:bodyPr wrap="square" lIns="27432" rIns="27432" tIns="0" bIns="0">
            <a:spAutoFit/>
          </a:bodyPr>
          <a:lstStyle/>
          <a:p>
            <a:pPr algn="l">
              <a:lnSpc>
                <a:spcPct val="100000"/>
              </a:lnSpc>
              <a:spcAft>
                <a:spcPts val="400"/>
              </a:spcAft>
            </a:pPr>
            <a:r>
              <a:rPr sz="4600" b="1">
                <a:solidFill>
                  <a:srgbClr val="FFFFFF"/>
                </a:solidFill>
                <a:latin typeface="Calibri"/>
              </a:rPr>
              <a:t>CJAP — Conversation Robot</a:t>
            </a:r>
          </a:p>
        </p:txBody>
      </p:sp>
      <p:sp>
        <p:nvSpPr>
          <p:cNvPr id="5" name="TextBox 4"/>
          <p:cNvSpPr txBox="1"/>
          <p:nvPr/>
        </p:nvSpPr>
        <p:spPr>
          <a:xfrm>
            <a:off x="822960" y="3154680"/>
            <a:ext cx="10515600" cy="548640"/>
          </a:xfrm>
          <a:prstGeom prst="rect">
            <a:avLst/>
          </a:prstGeom>
          <a:noFill/>
        </p:spPr>
        <p:txBody>
          <a:bodyPr wrap="square" lIns="27432" rIns="27432" tIns="0" bIns="0">
            <a:spAutoFit/>
          </a:bodyPr>
          <a:lstStyle/>
          <a:p>
            <a:pPr algn="l">
              <a:lnSpc>
                <a:spcPct val="100000"/>
              </a:lnSpc>
              <a:spcAft>
                <a:spcPts val="400"/>
              </a:spcAft>
            </a:pPr>
            <a:r>
              <a:rPr sz="2000" b="0">
                <a:solidFill>
                  <a:srgbClr val="C8E6C8"/>
                </a:solidFill>
                <a:latin typeface="Calibri"/>
              </a:rPr>
              <a:t>Chief Justice Artemio V. Panganiban, in his own voice and corpus</a:t>
            </a:r>
          </a:p>
        </p:txBody>
      </p:sp>
      <p:sp>
        <p:nvSpPr>
          <p:cNvPr id="6" name="Rectangle 5"/>
          <p:cNvSpPr/>
          <p:nvPr/>
        </p:nvSpPr>
        <p:spPr>
          <a:xfrm>
            <a:off x="841248" y="3886200"/>
            <a:ext cx="2011680" cy="45720"/>
          </a:xfrm>
          <a:prstGeom prst="rect">
            <a:avLst/>
          </a:prstGeom>
          <a:solidFill>
            <a:srgbClr val="00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822960" y="4206240"/>
            <a:ext cx="10515600" cy="1463040"/>
          </a:xfrm>
          <a:prstGeom prst="rect">
            <a:avLst/>
          </a:prstGeom>
          <a:noFill/>
        </p:spPr>
        <p:txBody>
          <a:bodyPr wrap="square" lIns="27432" rIns="27432" tIns="0" bIns="0">
            <a:spAutoFit/>
          </a:bodyPr>
          <a:lstStyle/>
          <a:p>
            <a:pPr algn="l">
              <a:lnSpc>
                <a:spcPct val="100000"/>
              </a:lnSpc>
              <a:spcAft>
                <a:spcPts val="600"/>
              </a:spcAft>
            </a:pPr>
            <a:r>
              <a:rPr sz="1400" b="0">
                <a:solidFill>
                  <a:srgbClr val="FFFFFF"/>
                </a:solidFill>
                <a:latin typeface="Calibri"/>
              </a:rPr>
              <a:t>Project handover</a:t>
            </a:r>
          </a:p>
          <a:p>
            <a:pPr algn="l">
              <a:lnSpc>
                <a:spcPct val="100000"/>
              </a:lnSpc>
              <a:spcAft>
                <a:spcPts val="600"/>
              </a:spcAft>
            </a:pPr>
            <a:r>
              <a:rPr sz="1400" b="0">
                <a:solidFill>
                  <a:srgbClr val="FFFFFF"/>
                </a:solidFill>
                <a:latin typeface="Calibri"/>
              </a:rPr>
              <a:t>Supervaise Inc.  →  Foundation for Liberty and Prosperity</a:t>
            </a:r>
          </a:p>
          <a:p>
            <a:pPr algn="l">
              <a:lnSpc>
                <a:spcPct val="100000"/>
              </a:lnSpc>
              <a:spcAft>
                <a:spcPts val="600"/>
              </a:spcAft>
            </a:pPr>
            <a:r>
              <a:rPr sz="1400" b="0">
                <a:solidFill>
                  <a:srgbClr val="FFFFFF"/>
                </a:solidFill>
                <a:latin typeface="Calibri"/>
              </a:rPr>
              <a:t>Repository: github.com/Supervaise-Inc/CJAP · pi/deployment-snapshots @ 2545882 (2026-08-31)</a:t>
            </a:r>
          </a:p>
          <a:p>
            <a:pPr algn="l">
              <a:lnSpc>
                <a:spcPct val="100000"/>
              </a:lnSpc>
              <a:spcAft>
                <a:spcPts val="600"/>
              </a:spcAft>
            </a:pPr>
            <a:r>
              <a:rPr sz="1400" b="0">
                <a:solidFill>
                  <a:srgbClr val="FFFFFF"/>
                </a:solidFill>
                <a:latin typeface="Calibri"/>
              </a:rPr>
              <a:t>20 September 2026</a:t>
            </a:r>
          </a:p>
        </p:txBody>
      </p:sp>
      <p:sp>
        <p:nvSpPr>
          <p:cNvPr id="8" name="TextBox 7"/>
          <p:cNvSpPr txBox="1"/>
          <p:nvPr/>
        </p:nvSpPr>
        <p:spPr>
          <a:xfrm>
            <a:off x="822960" y="6172200"/>
            <a:ext cx="10515600" cy="365760"/>
          </a:xfrm>
          <a:prstGeom prst="rect">
            <a:avLst/>
          </a:prstGeom>
          <a:noFill/>
        </p:spPr>
        <p:txBody>
          <a:bodyPr wrap="square" lIns="27432" rIns="27432" tIns="0" bIns="0">
            <a:spAutoFit/>
          </a:bodyPr>
          <a:lstStyle/>
          <a:p>
            <a:pPr algn="l">
              <a:lnSpc>
                <a:spcPct val="100000"/>
              </a:lnSpc>
              <a:spcAft>
                <a:spcPts val="400"/>
              </a:spcAft>
            </a:pPr>
            <a:r>
              <a:rPr sz="1200" b="0">
                <a:solidFill>
                  <a:srgbClr val="00CC00"/>
                </a:solidFill>
                <a:latin typeface="Calibri"/>
              </a:rPr>
              <a:t>Supervaise Inc. — Unlocking Possibilities Together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02920" y="164592"/>
            <a:ext cx="10424160" cy="457200"/>
          </a:xfrm>
          <a:prstGeom prst="rect">
            <a:avLst/>
          </a:prstGeom>
          <a:noFill/>
        </p:spPr>
        <p:txBody>
          <a:bodyPr wrap="square" lIns="27432" rIns="27432" tIns="0" bIns="0">
            <a:spAutoFit/>
          </a:bodyPr>
          <a:lstStyle/>
          <a:p>
            <a:pPr algn="l">
              <a:lnSpc>
                <a:spcPct val="100000"/>
              </a:lnSpc>
              <a:spcAft>
                <a:spcPts val="400"/>
              </a:spcAft>
            </a:pPr>
            <a:r>
              <a:rPr sz="2700" b="1">
                <a:solidFill>
                  <a:srgbClr val="FFFFFF"/>
                </a:solidFill>
                <a:latin typeface="Calibri"/>
              </a:rPr>
              <a:t>What was built</a:t>
            </a:r>
          </a:p>
        </p:txBody>
      </p:sp>
      <p:sp>
        <p:nvSpPr>
          <p:cNvPr id="4" name="TextBox 3"/>
          <p:cNvSpPr txBox="1"/>
          <p:nvPr/>
        </p:nvSpPr>
        <p:spPr>
          <a:xfrm>
            <a:off x="502920" y="566928"/>
            <a:ext cx="10424160" cy="274320"/>
          </a:xfrm>
          <a:prstGeom prst="rect">
            <a:avLst/>
          </a:prstGeom>
          <a:noFill/>
        </p:spPr>
        <p:txBody>
          <a:bodyPr wrap="square" lIns="27432" rIns="27432" tIns="0" bIns="0">
            <a:spAutoFit/>
          </a:bodyPr>
          <a:lstStyle/>
          <a:p>
            <a:pPr algn="l">
              <a:lnSpc>
                <a:spcPct val="100000"/>
              </a:lnSpc>
              <a:spcAft>
                <a:spcPts val="400"/>
              </a:spcAft>
            </a:pPr>
            <a:r>
              <a:rPr sz="1150" b="0">
                <a:solidFill>
                  <a:srgbClr val="C8E6C8"/>
                </a:solidFill>
                <a:latin typeface="Calibri"/>
              </a:rPr>
              <a:t>One sentence, one picture</a:t>
            </a:r>
          </a:p>
        </p:txBody>
      </p:sp>
      <p:sp>
        <p:nvSpPr>
          <p:cNvPr id="5" name="Rectangle 4"/>
          <p:cNvSpPr/>
          <p:nvPr/>
        </p:nvSpPr>
        <p:spPr>
          <a:xfrm>
            <a:off x="0" y="841248"/>
            <a:ext cx="12191695" cy="41148"/>
          </a:xfrm>
          <a:prstGeom prst="rect">
            <a:avLst/>
          </a:prstGeom>
          <a:solidFill>
            <a:srgbClr val="00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640080" y="1234440"/>
            <a:ext cx="10972800" cy="822960"/>
          </a:xfrm>
          <a:prstGeom prst="rect">
            <a:avLst/>
          </a:prstGeom>
          <a:noFill/>
        </p:spPr>
        <p:txBody>
          <a:bodyPr wrap="square" lIns="27432" rIns="27432" tIns="0" bIns="0">
            <a:spAutoFit/>
          </a:bodyPr>
          <a:lstStyle/>
          <a:p>
            <a:pPr algn="l">
              <a:lnSpc>
                <a:spcPct val="100000"/>
              </a:lnSpc>
              <a:spcAft>
                <a:spcPts val="400"/>
              </a:spcAft>
            </a:pPr>
            <a:r>
              <a:rPr sz="2300" b="1">
                <a:solidFill>
                  <a:srgbClr val="2D2D2D"/>
                </a:solidFill>
                <a:latin typeface="Calibri"/>
              </a:rPr>
              <a:t>A desktop robot that answers questions as the Chief Justice, from his published writing.</a:t>
            </a:r>
          </a:p>
        </p:txBody>
      </p:sp>
      <p:sp>
        <p:nvSpPr>
          <p:cNvPr id="7" name="Rounded Rectangle 6"/>
          <p:cNvSpPr/>
          <p:nvPr/>
        </p:nvSpPr>
        <p:spPr>
          <a:xfrm>
            <a:off x="822960" y="2514600"/>
            <a:ext cx="2651760" cy="1737360"/>
          </a:xfrm>
          <a:prstGeom prst="roundRect">
            <a:avLst/>
          </a:prstGeom>
          <a:solidFill>
            <a:srgbClr val="EFF7EF"/>
          </a:solidFill>
          <a:ln w="15875">
            <a:solidFill>
              <a:srgbClr val="00CC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60120" y="2697480"/>
            <a:ext cx="2377440" cy="1463040"/>
          </a:xfrm>
          <a:prstGeom prst="rect">
            <a:avLst/>
          </a:prstGeom>
          <a:noFill/>
        </p:spPr>
        <p:txBody>
          <a:bodyPr wrap="square" lIns="27432" rIns="27432" tIns="0" bIns="0">
            <a:spAutoFit/>
          </a:bodyPr>
          <a:lstStyle/>
          <a:p>
            <a:pPr algn="ctr">
              <a:lnSpc>
                <a:spcPct val="100000"/>
              </a:lnSpc>
              <a:spcAft>
                <a:spcPts val="400"/>
              </a:spcAft>
            </a:pPr>
            <a:r>
              <a:rPr sz="1300" b="0">
                <a:solidFill>
                  <a:srgbClr val="2D2D2D"/>
                </a:solidFill>
                <a:latin typeface="Calibri"/>
              </a:rPr>
              <a:t>REACHY MINI</a:t>
            </a:r>
          </a:p>
          <a:p>
            <a:pPr algn="ctr">
              <a:lnSpc>
                <a:spcPct val="100000"/>
              </a:lnSpc>
              <a:spcAft>
                <a:spcPts val="400"/>
              </a:spcAft>
            </a:pPr>
            <a:r>
              <a:rPr sz="1300" b="0">
                <a:solidFill>
                  <a:srgbClr val="2D2D2D"/>
                </a:solidFill>
                <a:latin typeface="Calibri"/>
              </a:rPr>
              <a:t/>
            </a:r>
          </a:p>
          <a:p>
            <a:pPr algn="ctr">
              <a:lnSpc>
                <a:spcPct val="100000"/>
              </a:lnSpc>
              <a:spcAft>
                <a:spcPts val="400"/>
              </a:spcAft>
            </a:pPr>
            <a:r>
              <a:rPr sz="1300" b="0">
                <a:solidFill>
                  <a:srgbClr val="2D2D2D"/>
                </a:solidFill>
                <a:latin typeface="Calibri"/>
              </a:rPr>
              <a:t>face · ears · mouth</a:t>
            </a:r>
          </a:p>
          <a:p>
            <a:pPr algn="ctr">
              <a:lnSpc>
                <a:spcPct val="100000"/>
              </a:lnSpc>
              <a:spcAft>
                <a:spcPts val="400"/>
              </a:spcAft>
            </a:pPr>
            <a:r>
              <a:rPr sz="1300" b="0">
                <a:solidFill>
                  <a:srgbClr val="2D2D2D"/>
                </a:solidFill>
                <a:latin typeface="Calibri"/>
              </a:rPr>
              <a:t>on-device, offline</a:t>
            </a:r>
          </a:p>
        </p:txBody>
      </p:sp>
      <p:sp>
        <p:nvSpPr>
          <p:cNvPr id="9" name="Rounded Rectangle 8"/>
          <p:cNvSpPr/>
          <p:nvPr/>
        </p:nvSpPr>
        <p:spPr>
          <a:xfrm>
            <a:off x="4754880" y="2514600"/>
            <a:ext cx="2651760" cy="1737360"/>
          </a:xfrm>
          <a:prstGeom prst="roundRect">
            <a:avLst/>
          </a:prstGeom>
          <a:solidFill>
            <a:srgbClr val="F2F2F2"/>
          </a:solidFill>
          <a:ln w="1587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892040" y="2697480"/>
            <a:ext cx="2377440" cy="1463040"/>
          </a:xfrm>
          <a:prstGeom prst="rect">
            <a:avLst/>
          </a:prstGeom>
          <a:noFill/>
        </p:spPr>
        <p:txBody>
          <a:bodyPr wrap="square" lIns="27432" rIns="27432" tIns="0" bIns="0">
            <a:spAutoFit/>
          </a:bodyPr>
          <a:lstStyle/>
          <a:p>
            <a:pPr algn="ctr">
              <a:lnSpc>
                <a:spcPct val="100000"/>
              </a:lnSpc>
              <a:spcAft>
                <a:spcPts val="400"/>
              </a:spcAft>
            </a:pPr>
            <a:r>
              <a:rPr sz="1300" b="0">
                <a:solidFill>
                  <a:srgbClr val="2D2D2D"/>
                </a:solidFill>
                <a:latin typeface="Calibri"/>
              </a:rPr>
              <a:t>CURATED CORPUS</a:t>
            </a:r>
          </a:p>
          <a:p>
            <a:pPr algn="ctr">
              <a:lnSpc>
                <a:spcPct val="100000"/>
              </a:lnSpc>
              <a:spcAft>
                <a:spcPts val="400"/>
              </a:spcAft>
            </a:pPr>
            <a:r>
              <a:rPr sz="1300" b="0">
                <a:solidFill>
                  <a:srgbClr val="2D2D2D"/>
                </a:solidFill>
                <a:latin typeface="Calibri"/>
              </a:rPr>
              <a:t/>
            </a:r>
          </a:p>
          <a:p>
            <a:pPr algn="ctr">
              <a:lnSpc>
                <a:spcPct val="100000"/>
              </a:lnSpc>
              <a:spcAft>
                <a:spcPts val="400"/>
              </a:spcAft>
            </a:pPr>
            <a:r>
              <a:rPr sz="1300" b="0">
                <a:solidFill>
                  <a:srgbClr val="2D2D2D"/>
                </a:solidFill>
                <a:latin typeface="Calibri"/>
              </a:rPr>
              <a:t>79 documents</a:t>
            </a:r>
          </a:p>
          <a:p>
            <a:pPr algn="ctr">
              <a:lnSpc>
                <a:spcPct val="100000"/>
              </a:lnSpc>
              <a:spcAft>
                <a:spcPts val="400"/>
              </a:spcAft>
            </a:pPr>
            <a:r>
              <a:rPr sz="1300" b="0">
                <a:solidFill>
                  <a:srgbClr val="2D2D2D"/>
                </a:solidFill>
                <a:latin typeface="Calibri"/>
              </a:rPr>
              <a:t>35 topics</a:t>
            </a:r>
          </a:p>
        </p:txBody>
      </p:sp>
      <p:sp>
        <p:nvSpPr>
          <p:cNvPr id="11" name="Rounded Rectangle 10"/>
          <p:cNvSpPr/>
          <p:nvPr/>
        </p:nvSpPr>
        <p:spPr>
          <a:xfrm>
            <a:off x="8686800" y="2514600"/>
            <a:ext cx="2651760" cy="1737360"/>
          </a:xfrm>
          <a:prstGeom prst="roundRect">
            <a:avLst/>
          </a:prstGeom>
          <a:solidFill>
            <a:srgbClr val="E8EFF9"/>
          </a:solidFill>
          <a:ln w="15875">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823960" y="2697480"/>
            <a:ext cx="2377440" cy="1463040"/>
          </a:xfrm>
          <a:prstGeom prst="rect">
            <a:avLst/>
          </a:prstGeom>
          <a:noFill/>
        </p:spPr>
        <p:txBody>
          <a:bodyPr wrap="square" lIns="27432" rIns="27432" tIns="0" bIns="0">
            <a:spAutoFit/>
          </a:bodyPr>
          <a:lstStyle/>
          <a:p>
            <a:pPr algn="ctr">
              <a:lnSpc>
                <a:spcPct val="100000"/>
              </a:lnSpc>
              <a:spcAft>
                <a:spcPts val="400"/>
              </a:spcAft>
            </a:pPr>
            <a:r>
              <a:rPr sz="1300" b="0">
                <a:solidFill>
                  <a:srgbClr val="2D2D2D"/>
                </a:solidFill>
                <a:latin typeface="Calibri"/>
              </a:rPr>
              <a:t>CLAUDE</a:t>
            </a:r>
          </a:p>
          <a:p>
            <a:pPr algn="ctr">
              <a:lnSpc>
                <a:spcPct val="100000"/>
              </a:lnSpc>
              <a:spcAft>
                <a:spcPts val="400"/>
              </a:spcAft>
            </a:pPr>
            <a:r>
              <a:rPr sz="1300" b="0">
                <a:solidFill>
                  <a:srgbClr val="2D2D2D"/>
                </a:solidFill>
                <a:latin typeface="Calibri"/>
              </a:rPr>
              <a:t/>
            </a:r>
          </a:p>
          <a:p>
            <a:pPr algn="ctr">
              <a:lnSpc>
                <a:spcPct val="100000"/>
              </a:lnSpc>
              <a:spcAft>
                <a:spcPts val="400"/>
              </a:spcAft>
            </a:pPr>
            <a:r>
              <a:rPr sz="1300" b="0">
                <a:solidFill>
                  <a:srgbClr val="2D2D2D"/>
                </a:solidFill>
                <a:latin typeface="Calibri"/>
              </a:rPr>
              <a:t>Haiku 4.5 routes</a:t>
            </a:r>
          </a:p>
          <a:p>
            <a:pPr algn="ctr">
              <a:lnSpc>
                <a:spcPct val="100000"/>
              </a:lnSpc>
              <a:spcAft>
                <a:spcPts val="400"/>
              </a:spcAft>
            </a:pPr>
            <a:r>
              <a:rPr sz="1300" b="0">
                <a:solidFill>
                  <a:srgbClr val="2D2D2D"/>
                </a:solidFill>
                <a:latin typeface="Calibri"/>
              </a:rPr>
              <a:t>Sonnet 4.6 composes</a:t>
            </a:r>
          </a:p>
        </p:txBody>
      </p:sp>
      <p:sp>
        <p:nvSpPr>
          <p:cNvPr id="13" name="Right Arrow 12"/>
          <p:cNvSpPr/>
          <p:nvPr/>
        </p:nvSpPr>
        <p:spPr>
          <a:xfrm>
            <a:off x="3657600" y="3063240"/>
            <a:ext cx="960120" cy="457200"/>
          </a:xfrm>
          <a:prstGeom prst="rightArrow">
            <a:avLst/>
          </a:prstGeom>
          <a:solidFill>
            <a:srgbClr val="00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7589520" y="3063240"/>
            <a:ext cx="960120" cy="457200"/>
          </a:xfrm>
          <a:prstGeom prst="rightArrow">
            <a:avLst/>
          </a:prstGeom>
          <a:solidFill>
            <a:srgbClr val="00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455664"/>
            <a:ext cx="8229600" cy="274320"/>
          </a:xfrm>
          <a:prstGeom prst="rect">
            <a:avLst/>
          </a:prstGeom>
          <a:noFill/>
        </p:spPr>
        <p:txBody>
          <a:bodyPr wrap="square" lIns="27432" rIns="27432" tIns="0" bIns="0">
            <a:spAutoFit/>
          </a:bodyPr>
          <a:lstStyle/>
          <a:p>
            <a:pPr algn="l">
              <a:lnSpc>
                <a:spcPct val="100000"/>
              </a:lnSpc>
              <a:spcAft>
                <a:spcPts val="400"/>
              </a:spcAft>
            </a:pPr>
            <a:r>
              <a:rPr sz="850" b="0">
                <a:solidFill>
                  <a:srgbClr val="808080"/>
                </a:solidFill>
                <a:latin typeface="Calibri"/>
              </a:rPr>
              <a:t>Supervaise Inc. — CJAP handover · repo pi/deployment-snapshots @ 2545882 (2026-08-31)</a:t>
            </a:r>
          </a:p>
        </p:txBody>
      </p:sp>
      <p:sp>
        <p:nvSpPr>
          <p:cNvPr id="16" name="TextBox 15"/>
          <p:cNvSpPr txBox="1"/>
          <p:nvPr/>
        </p:nvSpPr>
        <p:spPr>
          <a:xfrm>
            <a:off x="11064240" y="6455664"/>
            <a:ext cx="685800" cy="274320"/>
          </a:xfrm>
          <a:prstGeom prst="rect">
            <a:avLst/>
          </a:prstGeom>
          <a:noFill/>
        </p:spPr>
        <p:txBody>
          <a:bodyPr wrap="square" lIns="27432" rIns="27432" tIns="0" bIns="0">
            <a:spAutoFit/>
          </a:bodyPr>
          <a:lstStyle/>
          <a:p>
            <a:pPr algn="r">
              <a:lnSpc>
                <a:spcPct val="100000"/>
              </a:lnSpc>
              <a:spcAft>
                <a:spcPts val="400"/>
              </a:spcAft>
            </a:pPr>
            <a:r>
              <a:rPr sz="900" b="0">
                <a:solidFill>
                  <a:srgbClr val="80808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02920" y="164592"/>
            <a:ext cx="10424160" cy="457200"/>
          </a:xfrm>
          <a:prstGeom prst="rect">
            <a:avLst/>
          </a:prstGeom>
          <a:noFill/>
        </p:spPr>
        <p:txBody>
          <a:bodyPr wrap="square" lIns="27432" rIns="27432" tIns="0" bIns="0">
            <a:spAutoFit/>
          </a:bodyPr>
          <a:lstStyle/>
          <a:p>
            <a:pPr algn="l">
              <a:lnSpc>
                <a:spcPct val="100000"/>
              </a:lnSpc>
              <a:spcAft>
                <a:spcPts val="400"/>
              </a:spcAft>
            </a:pPr>
            <a:r>
              <a:rPr sz="2700" b="1">
                <a:solidFill>
                  <a:srgbClr val="FFFFFF"/>
                </a:solidFill>
                <a:latin typeface="Calibri"/>
              </a:rPr>
              <a:t>Pipeline architecture</a:t>
            </a:r>
          </a:p>
        </p:txBody>
      </p:sp>
      <p:sp>
        <p:nvSpPr>
          <p:cNvPr id="4" name="TextBox 3"/>
          <p:cNvSpPr txBox="1"/>
          <p:nvPr/>
        </p:nvSpPr>
        <p:spPr>
          <a:xfrm>
            <a:off x="502920" y="566928"/>
            <a:ext cx="10424160" cy="274320"/>
          </a:xfrm>
          <a:prstGeom prst="rect">
            <a:avLst/>
          </a:prstGeom>
          <a:noFill/>
        </p:spPr>
        <p:txBody>
          <a:bodyPr wrap="square" lIns="27432" rIns="27432" tIns="0" bIns="0">
            <a:spAutoFit/>
          </a:bodyPr>
          <a:lstStyle/>
          <a:p>
            <a:pPr algn="l">
              <a:lnSpc>
                <a:spcPct val="100000"/>
              </a:lnSpc>
              <a:spcAft>
                <a:spcPts val="400"/>
              </a:spcAft>
            </a:pPr>
            <a:r>
              <a:rPr sz="1150" b="0">
                <a:solidFill>
                  <a:srgbClr val="C8E6C8"/>
                </a:solidFill>
                <a:latin typeface="Calibri"/>
              </a:rPr>
              <a:t>One question, end to end · two Claude calls</a:t>
            </a:r>
          </a:p>
        </p:txBody>
      </p:sp>
      <p:sp>
        <p:nvSpPr>
          <p:cNvPr id="5" name="Rectangle 4"/>
          <p:cNvSpPr/>
          <p:nvPr/>
        </p:nvSpPr>
        <p:spPr>
          <a:xfrm>
            <a:off x="0" y="841248"/>
            <a:ext cx="12191695" cy="41148"/>
          </a:xfrm>
          <a:prstGeom prst="rect">
            <a:avLst/>
          </a:prstGeom>
          <a:solidFill>
            <a:srgbClr val="00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02920" y="1143000"/>
            <a:ext cx="11155680" cy="4572000"/>
          </a:xfrm>
          <a:prstGeom prst="rect">
            <a:avLst/>
          </a:prstGeom>
          <a:solidFill>
            <a:srgbClr val="F7F7F7"/>
          </a:solidFill>
          <a:ln w="1587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73152" bIns="73152"/>
          <a:lstStyle/>
          <a:p>
            <a:pPr algn="ctr">
              <a:lnSpc>
                <a:spcPct val="100000"/>
              </a:lnSpc>
              <a:spcAft>
                <a:spcPts val="0"/>
              </a:spcAft>
            </a:pPr>
            <a:r>
              <a:rPr sz="1150">
                <a:solidFill>
                  <a:srgbClr val="000000"/>
                </a:solidFill>
                <a:latin typeface="Consolas"/>
              </a:rPr>
              <a:t>   VISITOR        ▌ ON-ROBOT · local · no cost       ▌ CLOUD · paid per call</a:t>
            </a:r>
          </a:p>
          <a:p>
            <a:pPr>
              <a:lnSpc>
                <a:spcPct val="100000"/>
              </a:lnSpc>
              <a:spcAft>
                <a:spcPts val="0"/>
              </a:spcAft>
            </a:pPr>
            <a:r>
              <a:rPr sz="1150">
                <a:solidFill>
                  <a:srgbClr val="000000"/>
                </a:solidFill>
                <a:latin typeface="Consolas"/>
              </a:rPr>
              <a:t> ────────────────▌───────────────────────────────────▌──────────────────────────</a:t>
            </a:r>
          </a:p>
          <a:p>
            <a:pPr>
              <a:lnSpc>
                <a:spcPct val="100000"/>
              </a:lnSpc>
              <a:spcAft>
                <a:spcPts val="0"/>
              </a:spcAft>
            </a:pPr>
            <a:r>
              <a:rPr sz="1150">
                <a:solidFill>
                  <a:srgbClr val="000000"/>
                </a:solidFill>
                <a:latin typeface="Consolas"/>
              </a:rPr>
              <a:t> "Hi Cee-Jap" ──►▌ [1] WAKE   openWakeWord           ▌</a:t>
            </a:r>
          </a:p>
          <a:p>
            <a:pPr>
              <a:lnSpc>
                <a:spcPct val="100000"/>
              </a:lnSpc>
              <a:spcAft>
                <a:spcPts val="0"/>
              </a:spcAft>
            </a:pPr>
            <a:r>
              <a:rPr sz="1150">
                <a:solidFill>
                  <a:srgbClr val="000000"/>
                </a:solidFill>
                <a:latin typeface="Consolas"/>
              </a:rPr>
              <a:t>                 ▌     hi_see_jap.onnx · thr 0.08    ▌</a:t>
            </a:r>
          </a:p>
          <a:p>
            <a:pPr>
              <a:lnSpc>
                <a:spcPct val="100000"/>
              </a:lnSpc>
              <a:spcAft>
                <a:spcPts val="0"/>
              </a:spcAft>
            </a:pPr>
            <a:r>
              <a:rPr sz="1150">
                <a:solidFill>
                  <a:srgbClr val="000000"/>
                </a:solidFill>
                <a:latin typeface="Consolas"/>
              </a:rPr>
              <a:t>  asks question ►▌ [2] CAPTURE  mic → 1.5s silence ──▌──► [3] STT   OpenAI</a:t>
            </a:r>
          </a:p>
          <a:p>
            <a:pPr>
              <a:lnSpc>
                <a:spcPct val="100000"/>
              </a:lnSpc>
              <a:spcAft>
                <a:spcPts val="0"/>
              </a:spcAft>
            </a:pPr>
            <a:r>
              <a:rPr sz="1150">
                <a:solidFill>
                  <a:srgbClr val="000000"/>
                </a:solidFill>
                <a:latin typeface="Consolas"/>
              </a:rPr>
              <a:t>                 ▌                                   ▌       gpt-4o-mini-transcribe</a:t>
            </a:r>
          </a:p>
          <a:p>
            <a:pPr>
              <a:lnSpc>
                <a:spcPct val="100000"/>
              </a:lnSpc>
              <a:spcAft>
                <a:spcPts val="0"/>
              </a:spcAft>
            </a:pPr>
            <a:r>
              <a:rPr sz="1150">
                <a:solidFill>
                  <a:srgbClr val="000000"/>
                </a:solidFill>
                <a:latin typeface="Consolas"/>
              </a:rPr>
              <a:t>                 ▌ [4] NAME REPAIR + ANSWER GATE ◄────▌───────────┘</a:t>
            </a:r>
          </a:p>
          <a:p>
            <a:pPr>
              <a:lnSpc>
                <a:spcPct val="100000"/>
              </a:lnSpc>
              <a:spcAft>
                <a:spcPts val="0"/>
              </a:spcAft>
            </a:pPr>
            <a:r>
              <a:rPr sz="1150">
                <a:solidFill>
                  <a:srgbClr val="000000"/>
                </a:solidFill>
                <a:latin typeface="Consolas"/>
              </a:rPr>
              <a:t>                 ▌ [5] CANNED? ─yes─► cached clip ─► END  (zero Claude calls)</a:t>
            </a:r>
          </a:p>
          <a:p>
            <a:pPr>
              <a:lnSpc>
                <a:spcPct val="100000"/>
              </a:lnSpc>
              <a:spcAft>
                <a:spcPts val="0"/>
              </a:spcAft>
            </a:pPr>
            <a:r>
              <a:rPr sz="1150">
                <a:solidFill>
                  <a:srgbClr val="000000"/>
                </a:solidFill>
                <a:latin typeface="Consolas"/>
              </a:rPr>
              <a:t>                 ▌      │ no                         ▌</a:t>
            </a:r>
          </a:p>
          <a:p>
            <a:pPr>
              <a:lnSpc>
                <a:spcPct val="100000"/>
              </a:lnSpc>
              <a:spcAft>
                <a:spcPts val="0"/>
              </a:spcAft>
            </a:pPr>
            <a:r>
              <a:rPr sz="1150">
                <a:solidFill>
                  <a:srgbClr val="000000"/>
                </a:solidFill>
                <a:latin typeface="Consolas"/>
              </a:rPr>
              <a:t>                 ▌      ├────────────────────────────▌──► [6] ROUTER  ══ CALL 1</a:t>
            </a:r>
          </a:p>
          <a:p>
            <a:pPr>
              <a:lnSpc>
                <a:spcPct val="100000"/>
              </a:lnSpc>
              <a:spcAft>
                <a:spcPts val="0"/>
              </a:spcAft>
            </a:pPr>
            <a:r>
              <a:rPr sz="1150">
                <a:solidFill>
                  <a:srgbClr val="000000"/>
                </a:solidFill>
                <a:latin typeface="Consolas"/>
              </a:rPr>
              <a:t>                 ▌      │                            ▌       Claude Haiku 4.5</a:t>
            </a:r>
          </a:p>
          <a:p>
            <a:pPr>
              <a:lnSpc>
                <a:spcPct val="100000"/>
              </a:lnSpc>
              <a:spcAft>
                <a:spcPts val="0"/>
              </a:spcAft>
            </a:pPr>
            <a:r>
              <a:rPr sz="1150">
                <a:solidFill>
                  <a:srgbClr val="000000"/>
                </a:solidFill>
                <a:latin typeface="Consolas"/>
              </a:rPr>
              <a:t>                 ▌ [7] RETRIEVAL  35 topics → docs   ▌       max 160 tokens out</a:t>
            </a:r>
          </a:p>
          <a:p>
            <a:pPr>
              <a:lnSpc>
                <a:spcPct val="100000"/>
              </a:lnSpc>
              <a:spcAft>
                <a:spcPts val="0"/>
              </a:spcAft>
            </a:pPr>
            <a:r>
              <a:rPr sz="1150">
                <a:solidFill>
                  <a:srgbClr val="000000"/>
                </a:solidFill>
                <a:latin typeface="Consolas"/>
              </a:rPr>
              <a:t>                 ▌      │   context ≤ 5,000 tokens   ▌</a:t>
            </a:r>
          </a:p>
          <a:p>
            <a:pPr>
              <a:lnSpc>
                <a:spcPct val="100000"/>
              </a:lnSpc>
              <a:spcAft>
                <a:spcPts val="0"/>
              </a:spcAft>
            </a:pPr>
            <a:r>
              <a:rPr sz="1150">
                <a:solidFill>
                  <a:srgbClr val="000000"/>
                </a:solidFill>
                <a:latin typeface="Consolas"/>
              </a:rPr>
              <a:t>                 ▌ [8] FILLER plays ─────────────────▌──► [9] INFERENCE ══ CALL 2</a:t>
            </a:r>
          </a:p>
          <a:p>
            <a:pPr>
              <a:lnSpc>
                <a:spcPct val="100000"/>
              </a:lnSpc>
              <a:spcAft>
                <a:spcPts val="0"/>
              </a:spcAft>
            </a:pPr>
            <a:r>
              <a:rPr sz="1150">
                <a:solidFill>
                  <a:srgbClr val="000000"/>
                </a:solidFill>
                <a:latin typeface="Consolas"/>
              </a:rPr>
              <a:t>                 ▌      │   sentence by sentence     ▌       claude-sonnet-4-6</a:t>
            </a:r>
          </a:p>
          <a:p>
            <a:pPr>
              <a:lnSpc>
                <a:spcPct val="100000"/>
              </a:lnSpc>
              <a:spcAft>
                <a:spcPts val="0"/>
              </a:spcAft>
            </a:pPr>
            <a:r>
              <a:rPr sz="1150">
                <a:solidFill>
                  <a:srgbClr val="000000"/>
                </a:solidFill>
                <a:latin typeface="Consolas"/>
              </a:rPr>
              <a:t>                 ▌      │                            ▌──► [10] TTS  ElevenLabs</a:t>
            </a:r>
          </a:p>
          <a:p>
            <a:pPr>
              <a:lnSpc>
                <a:spcPct val="100000"/>
              </a:lnSpc>
              <a:spcAft>
                <a:spcPts val="0"/>
              </a:spcAft>
            </a:pPr>
            <a:r>
              <a:rPr sz="1150">
                <a:solidFill>
                  <a:srgbClr val="000000"/>
                </a:solidFill>
                <a:latin typeface="Consolas"/>
              </a:rPr>
              <a:t>                 ▌      │                            ▌       LeM5jaQwKcHJtzmSBNlA</a:t>
            </a:r>
          </a:p>
          <a:p>
            <a:pPr>
              <a:lnSpc>
                <a:spcPct val="100000"/>
              </a:lnSpc>
              <a:spcAft>
                <a:spcPts val="0"/>
              </a:spcAft>
            </a:pPr>
            <a:r>
              <a:rPr sz="1150">
                <a:solidFill>
                  <a:srgbClr val="000000"/>
                </a:solidFill>
                <a:latin typeface="Consolas"/>
              </a:rPr>
              <a:t>  ◄── PLAYBACK ──▌──────┘  + async Haiku audit       ▌       fails open ► OpenAI</a:t>
            </a:r>
          </a:p>
        </p:txBody>
      </p:sp>
      <p:sp>
        <p:nvSpPr>
          <p:cNvPr id="7" name="TextBox 6"/>
          <p:cNvSpPr txBox="1"/>
          <p:nvPr/>
        </p:nvSpPr>
        <p:spPr>
          <a:xfrm>
            <a:off x="502920" y="6455664"/>
            <a:ext cx="8229600" cy="274320"/>
          </a:xfrm>
          <a:prstGeom prst="rect">
            <a:avLst/>
          </a:prstGeom>
          <a:noFill/>
        </p:spPr>
        <p:txBody>
          <a:bodyPr wrap="square" lIns="27432" rIns="27432" tIns="0" bIns="0">
            <a:spAutoFit/>
          </a:bodyPr>
          <a:lstStyle/>
          <a:p>
            <a:pPr algn="l">
              <a:lnSpc>
                <a:spcPct val="100000"/>
              </a:lnSpc>
              <a:spcAft>
                <a:spcPts val="400"/>
              </a:spcAft>
            </a:pPr>
            <a:r>
              <a:rPr sz="850" b="0">
                <a:solidFill>
                  <a:srgbClr val="808080"/>
                </a:solidFill>
                <a:latin typeface="Calibri"/>
              </a:rPr>
              <a:t>Supervaise Inc. — CJAP handover · repo pi/deployment-snapshots @ 2545882 (2026-08-31)</a:t>
            </a:r>
          </a:p>
        </p:txBody>
      </p:sp>
      <p:sp>
        <p:nvSpPr>
          <p:cNvPr id="8" name="TextBox 7"/>
          <p:cNvSpPr txBox="1"/>
          <p:nvPr/>
        </p:nvSpPr>
        <p:spPr>
          <a:xfrm>
            <a:off x="11064240" y="6455664"/>
            <a:ext cx="685800" cy="274320"/>
          </a:xfrm>
          <a:prstGeom prst="rect">
            <a:avLst/>
          </a:prstGeom>
          <a:noFill/>
        </p:spPr>
        <p:txBody>
          <a:bodyPr wrap="square" lIns="27432" rIns="27432" tIns="0" bIns="0">
            <a:spAutoFit/>
          </a:bodyPr>
          <a:lstStyle/>
          <a:p>
            <a:pPr algn="r">
              <a:lnSpc>
                <a:spcPct val="100000"/>
              </a:lnSpc>
              <a:spcAft>
                <a:spcPts val="400"/>
              </a:spcAft>
            </a:pPr>
            <a:r>
              <a:rPr sz="900" b="0">
                <a:solidFill>
                  <a:srgbClr val="80808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02920" y="164592"/>
            <a:ext cx="10424160" cy="457200"/>
          </a:xfrm>
          <a:prstGeom prst="rect">
            <a:avLst/>
          </a:prstGeom>
          <a:noFill/>
        </p:spPr>
        <p:txBody>
          <a:bodyPr wrap="square" lIns="27432" rIns="27432" tIns="0" bIns="0">
            <a:spAutoFit/>
          </a:bodyPr>
          <a:lstStyle/>
          <a:p>
            <a:pPr algn="l">
              <a:lnSpc>
                <a:spcPct val="100000"/>
              </a:lnSpc>
              <a:spcAft>
                <a:spcPts val="400"/>
              </a:spcAft>
            </a:pPr>
            <a:r>
              <a:rPr sz="2700" b="1">
                <a:solidFill>
                  <a:srgbClr val="FFFFFF"/>
                </a:solidFill>
                <a:latin typeface="Calibri"/>
              </a:rPr>
              <a:t>Component stack</a:t>
            </a:r>
          </a:p>
        </p:txBody>
      </p:sp>
      <p:sp>
        <p:nvSpPr>
          <p:cNvPr id="4" name="TextBox 3"/>
          <p:cNvSpPr txBox="1"/>
          <p:nvPr/>
        </p:nvSpPr>
        <p:spPr>
          <a:xfrm>
            <a:off x="502920" y="566928"/>
            <a:ext cx="10424160" cy="274320"/>
          </a:xfrm>
          <a:prstGeom prst="rect">
            <a:avLst/>
          </a:prstGeom>
          <a:noFill/>
        </p:spPr>
        <p:txBody>
          <a:bodyPr wrap="square" lIns="27432" rIns="27432" tIns="0" bIns="0">
            <a:spAutoFit/>
          </a:bodyPr>
          <a:lstStyle/>
          <a:p>
            <a:pPr algn="l">
              <a:lnSpc>
                <a:spcPct val="100000"/>
              </a:lnSpc>
              <a:spcAft>
                <a:spcPts val="400"/>
              </a:spcAft>
            </a:pPr>
            <a:r>
              <a:rPr sz="1150" b="0">
                <a:solidFill>
                  <a:srgbClr val="C8E6C8"/>
                </a:solidFill>
                <a:latin typeface="Calibri"/>
              </a:rPr>
              <a:t>What runs locally, what is a paid API, and what happens when it fails</a:t>
            </a:r>
          </a:p>
        </p:txBody>
      </p:sp>
      <p:sp>
        <p:nvSpPr>
          <p:cNvPr id="5" name="Rectangle 4"/>
          <p:cNvSpPr/>
          <p:nvPr/>
        </p:nvSpPr>
        <p:spPr>
          <a:xfrm>
            <a:off x="0" y="841248"/>
            <a:ext cx="12191695" cy="41148"/>
          </a:xfrm>
          <a:prstGeom prst="rect">
            <a:avLst/>
          </a:prstGeom>
          <a:solidFill>
            <a:srgbClr val="00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graphicFrame>
        <p:nvGraphicFramePr>
          <p:cNvPr id="6" name="Table 5"/>
          <p:cNvGraphicFramePr>
            <a:graphicFrameLocks noGrp="1"/>
          </p:cNvGraphicFramePr>
          <p:nvPr/>
        </p:nvGraphicFramePr>
        <p:xfrm>
          <a:off x="502920" y="1143000"/>
          <a:ext cx="11155678" cy="2962656"/>
        </p:xfrm>
        <a:graphic>
          <a:graphicData uri="http://schemas.openxmlformats.org/drawingml/2006/table">
            <a:tbl>
              <a:tblPr firstRow="1" bandRow="1">
                <a:tableStyleId>{5C22544A-7EE6-4342-B048-85BDC9FD1C3A}</a:tableStyleId>
              </a:tblPr>
              <a:tblGrid>
                <a:gridCol w="1299690"/>
                <a:gridCol w="3899072"/>
                <a:gridCol w="1407998"/>
                <a:gridCol w="4548918"/>
              </a:tblGrid>
              <a:tr h="329184">
                <a:tc>
                  <a:txBody>
                    <a:bodyPr wrap="square"/>
                    <a:lstStyle/>
                    <a:p>
                      <a:pPr>
                        <a:lnSpc>
                          <a:spcPct val="95000"/>
                        </a:lnSpc>
                        <a:spcAft>
                          <a:spcPts val="0"/>
                        </a:spcAft>
                      </a:pPr>
                      <a:r>
                        <a:rPr sz="1200" b="1">
                          <a:solidFill>
                            <a:srgbClr val="FFFFFF"/>
                          </a:solidFill>
                          <a:latin typeface="Calibri"/>
                        </a:rPr>
                        <a:t>Stage</a:t>
                      </a:r>
                    </a:p>
                  </a:txBody>
                  <a:tcPr marL="64008" marR="64008" marT="18288" marB="18288" anchor="ctr">
                    <a:solidFill>
                      <a:srgbClr val="2D2D2D"/>
                    </a:solidFill>
                  </a:tcPr>
                </a:tc>
                <a:tc>
                  <a:txBody>
                    <a:bodyPr wrap="square"/>
                    <a:lstStyle/>
                    <a:p>
                      <a:pPr>
                        <a:lnSpc>
                          <a:spcPct val="95000"/>
                        </a:lnSpc>
                        <a:spcAft>
                          <a:spcPts val="0"/>
                        </a:spcAft>
                      </a:pPr>
                      <a:r>
                        <a:rPr sz="1200" b="1">
                          <a:solidFill>
                            <a:srgbClr val="FFFFFF"/>
                          </a:solidFill>
                          <a:latin typeface="Calibri"/>
                        </a:rPr>
                        <a:t>Component (verbatim)</a:t>
                      </a:r>
                    </a:p>
                  </a:txBody>
                  <a:tcPr marL="64008" marR="64008" marT="18288" marB="18288" anchor="ctr">
                    <a:solidFill>
                      <a:srgbClr val="2D2D2D"/>
                    </a:solidFill>
                  </a:tcPr>
                </a:tc>
                <a:tc>
                  <a:txBody>
                    <a:bodyPr wrap="square"/>
                    <a:lstStyle/>
                    <a:p>
                      <a:pPr>
                        <a:lnSpc>
                          <a:spcPct val="95000"/>
                        </a:lnSpc>
                        <a:spcAft>
                          <a:spcPts val="0"/>
                        </a:spcAft>
                      </a:pPr>
                      <a:r>
                        <a:rPr sz="1200" b="1">
                          <a:solidFill>
                            <a:srgbClr val="FFFFFF"/>
                          </a:solidFill>
                          <a:latin typeface="Calibri"/>
                        </a:rPr>
                        <a:t>Local / API</a:t>
                      </a:r>
                    </a:p>
                  </a:txBody>
                  <a:tcPr marL="64008" marR="64008" marT="18288" marB="18288" anchor="ctr">
                    <a:solidFill>
                      <a:srgbClr val="2D2D2D"/>
                    </a:solidFill>
                  </a:tcPr>
                </a:tc>
                <a:tc>
                  <a:txBody>
                    <a:bodyPr wrap="square"/>
                    <a:lstStyle/>
                    <a:p>
                      <a:pPr>
                        <a:lnSpc>
                          <a:spcPct val="95000"/>
                        </a:lnSpc>
                        <a:spcAft>
                          <a:spcPts val="0"/>
                        </a:spcAft>
                      </a:pPr>
                      <a:r>
                        <a:rPr sz="1200" b="1">
                          <a:solidFill>
                            <a:srgbClr val="FFFFFF"/>
                          </a:solidFill>
                          <a:latin typeface="Calibri"/>
                        </a:rPr>
                        <a:t>Fallback</a:t>
                      </a:r>
                    </a:p>
                  </a:txBody>
                  <a:tcPr marL="64008" marR="64008" marT="18288" marB="18288" anchor="ctr">
                    <a:solidFill>
                      <a:srgbClr val="2D2D2D"/>
                    </a:solidFill>
                  </a:tcPr>
                </a:tc>
              </a:tr>
              <a:tr h="292608">
                <a:tc>
                  <a:txBody>
                    <a:bodyPr wrap="square"/>
                    <a:lstStyle/>
                    <a:p>
                      <a:pPr>
                        <a:lnSpc>
                          <a:spcPct val="95000"/>
                        </a:lnSpc>
                        <a:spcAft>
                          <a:spcPts val="0"/>
                        </a:spcAft>
                      </a:pPr>
                      <a:r>
                        <a:rPr sz="1150" b="0">
                          <a:solidFill>
                            <a:srgbClr val="000000"/>
                          </a:solidFill>
                          <a:latin typeface="Calibri"/>
                        </a:rPr>
                        <a:t>Wake</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openWakeWord hi_see_jap.onnx</a:t>
                      </a:r>
                    </a:p>
                  </a:txBody>
                  <a:tcPr marL="64008" marR="64008" marT="18288" marB="18288" anchor="ctr">
                    <a:solidFill>
                      <a:srgbClr val="FFFFFF"/>
                    </a:solidFill>
                  </a:tcPr>
                </a:tc>
                <a:tc>
                  <a:txBody>
                    <a:bodyPr wrap="square"/>
                    <a:lstStyle/>
                    <a:p>
                      <a:pPr>
                        <a:lnSpc>
                          <a:spcPct val="95000"/>
                        </a:lnSpc>
                        <a:spcAft>
                          <a:spcPts val="0"/>
                        </a:spcAft>
                      </a:pPr>
                      <a:r>
                        <a:rPr sz="1150" b="1">
                          <a:solidFill>
                            <a:srgbClr val="000000"/>
                          </a:solidFill>
                          <a:latin typeface="Calibri"/>
                        </a:rPr>
                        <a:t>Local</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Operator force-listen from /maintain</a:t>
                      </a:r>
                    </a:p>
                  </a:txBody>
                  <a:tcPr marL="64008" marR="64008" marT="18288" marB="18288" anchor="ctr">
                    <a:solidFill>
                      <a:srgbClr val="FFFFFF"/>
                    </a:solidFill>
                  </a:tcPr>
                </a:tc>
              </a:tr>
              <a:tr h="292608">
                <a:tc>
                  <a:txBody>
                    <a:bodyPr wrap="square"/>
                    <a:lstStyle/>
                    <a:p>
                      <a:pPr>
                        <a:lnSpc>
                          <a:spcPct val="95000"/>
                        </a:lnSpc>
                        <a:spcAft>
                          <a:spcPts val="0"/>
                        </a:spcAft>
                      </a:pPr>
                      <a:r>
                        <a:rPr sz="1150" b="0">
                          <a:solidFill>
                            <a:srgbClr val="000000"/>
                          </a:solidFill>
                          <a:latin typeface="Calibri"/>
                        </a:rPr>
                        <a:t>STT</a:t>
                      </a:r>
                    </a:p>
                  </a:txBody>
                  <a:tcPr marL="64008" marR="64008" marT="18288" marB="18288" anchor="ctr">
                    <a:solidFill>
                      <a:srgbClr val="F2F2F2"/>
                    </a:solidFill>
                  </a:tcPr>
                </a:tc>
                <a:tc>
                  <a:txBody>
                    <a:bodyPr wrap="square"/>
                    <a:lstStyle/>
                    <a:p>
                      <a:pPr>
                        <a:lnSpc>
                          <a:spcPct val="95000"/>
                        </a:lnSpc>
                        <a:spcAft>
                          <a:spcPts val="0"/>
                        </a:spcAft>
                      </a:pPr>
                      <a:r>
                        <a:rPr sz="1150" b="0">
                          <a:solidFill>
                            <a:srgbClr val="000000"/>
                          </a:solidFill>
                          <a:latin typeface="Calibri"/>
                        </a:rPr>
                        <a:t>OpenAI gpt-4o-mini-transcribe</a:t>
                      </a:r>
                    </a:p>
                  </a:txBody>
                  <a:tcPr marL="64008" marR="64008" marT="18288" marB="18288" anchor="ctr">
                    <a:solidFill>
                      <a:srgbClr val="F2F2F2"/>
                    </a:solidFill>
                  </a:tcPr>
                </a:tc>
                <a:tc>
                  <a:txBody>
                    <a:bodyPr wrap="square"/>
                    <a:lstStyle/>
                    <a:p>
                      <a:pPr>
                        <a:lnSpc>
                          <a:spcPct val="95000"/>
                        </a:lnSpc>
                        <a:spcAft>
                          <a:spcPts val="0"/>
                        </a:spcAft>
                      </a:pPr>
                      <a:r>
                        <a:rPr sz="1150" b="1">
                          <a:solidFill>
                            <a:srgbClr val="000000"/>
                          </a:solidFill>
                          <a:latin typeface="Calibri"/>
                        </a:rPr>
                        <a:t>API</a:t>
                      </a:r>
                    </a:p>
                  </a:txBody>
                  <a:tcPr marL="64008" marR="64008" marT="18288" marB="18288" anchor="ctr">
                    <a:solidFill>
                      <a:srgbClr val="F2F2F2"/>
                    </a:solidFill>
                  </a:tcPr>
                </a:tc>
                <a:tc>
                  <a:txBody>
                    <a:bodyPr wrap="square"/>
                    <a:lstStyle/>
                    <a:p>
                      <a:pPr>
                        <a:lnSpc>
                          <a:spcPct val="95000"/>
                        </a:lnSpc>
                        <a:spcAft>
                          <a:spcPts val="0"/>
                        </a:spcAft>
                      </a:pPr>
                      <a:r>
                        <a:rPr sz="1150" b="1">
                          <a:solidFill>
                            <a:srgbClr val="000000"/>
                          </a:solidFill>
                          <a:latin typeface="Calibri"/>
                        </a:rPr>
                        <a:t>None wired.</a:t>
                      </a:r>
                      <a:r>
                        <a:rPr sz="1150" b="0">
                          <a:solidFill>
                            <a:srgbClr val="000000"/>
                          </a:solidFill>
                          <a:latin typeface="Calibri"/>
                        </a:rPr>
                        <a:t> Local switch exists, unused</a:t>
                      </a:r>
                    </a:p>
                  </a:txBody>
                  <a:tcPr marL="64008" marR="64008" marT="18288" marB="18288" anchor="ctr">
                    <a:solidFill>
                      <a:srgbClr val="F2F2F2"/>
                    </a:solidFill>
                  </a:tcPr>
                </a:tc>
              </a:tr>
              <a:tr h="292608">
                <a:tc>
                  <a:txBody>
                    <a:bodyPr wrap="square"/>
                    <a:lstStyle/>
                    <a:p>
                      <a:pPr>
                        <a:lnSpc>
                          <a:spcPct val="95000"/>
                        </a:lnSpc>
                        <a:spcAft>
                          <a:spcPts val="0"/>
                        </a:spcAft>
                      </a:pPr>
                      <a:r>
                        <a:rPr sz="1150" b="0">
                          <a:solidFill>
                            <a:srgbClr val="000000"/>
                          </a:solidFill>
                          <a:latin typeface="Calibri"/>
                        </a:rPr>
                        <a:t>Gates</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postprocess.py · answer_gate.py</a:t>
                      </a:r>
                    </a:p>
                  </a:txBody>
                  <a:tcPr marL="64008" marR="64008" marT="18288" marB="18288" anchor="ctr">
                    <a:solidFill>
                      <a:srgbClr val="FFFFFF"/>
                    </a:solidFill>
                  </a:tcPr>
                </a:tc>
                <a:tc>
                  <a:txBody>
                    <a:bodyPr wrap="square"/>
                    <a:lstStyle/>
                    <a:p>
                      <a:pPr>
                        <a:lnSpc>
                          <a:spcPct val="95000"/>
                        </a:lnSpc>
                        <a:spcAft>
                          <a:spcPts val="0"/>
                        </a:spcAft>
                      </a:pPr>
                      <a:r>
                        <a:rPr sz="1150" b="1">
                          <a:solidFill>
                            <a:srgbClr val="000000"/>
                          </a:solidFill>
                          <a:latin typeface="Calibri"/>
                        </a:rPr>
                        <a:t>Local</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Fail open — turn proceeds</a:t>
                      </a:r>
                    </a:p>
                  </a:txBody>
                  <a:tcPr marL="64008" marR="64008" marT="18288" marB="18288" anchor="ctr">
                    <a:solidFill>
                      <a:srgbClr val="FFFFFF"/>
                    </a:solidFill>
                  </a:tcPr>
                </a:tc>
              </a:tr>
              <a:tr h="292608">
                <a:tc>
                  <a:txBody>
                    <a:bodyPr wrap="square"/>
                    <a:lstStyle/>
                    <a:p>
                      <a:pPr>
                        <a:lnSpc>
                          <a:spcPct val="95000"/>
                        </a:lnSpc>
                        <a:spcAft>
                          <a:spcPts val="0"/>
                        </a:spcAft>
                      </a:pPr>
                      <a:r>
                        <a:rPr sz="1150" b="0">
                          <a:solidFill>
                            <a:srgbClr val="000000"/>
                          </a:solidFill>
                          <a:latin typeface="Calibri"/>
                        </a:rPr>
                        <a:t>Canned</a:t>
                      </a:r>
                    </a:p>
                  </a:txBody>
                  <a:tcPr marL="64008" marR="64008" marT="18288" marB="18288" anchor="ctr">
                    <a:solidFill>
                      <a:srgbClr val="F2F2F2"/>
                    </a:solidFill>
                  </a:tcPr>
                </a:tc>
                <a:tc>
                  <a:txBody>
                    <a:bodyPr wrap="square"/>
                    <a:lstStyle/>
                    <a:p>
                      <a:pPr>
                        <a:lnSpc>
                          <a:spcPct val="95000"/>
                        </a:lnSpc>
                        <a:spcAft>
                          <a:spcPts val="0"/>
                        </a:spcAft>
                      </a:pPr>
                      <a:r>
                        <a:rPr sz="1150" b="0">
                          <a:solidFill>
                            <a:srgbClr val="000000"/>
                          </a:solidFill>
                          <a:latin typeface="Calibri"/>
                        </a:rPr>
                        <a:t>canned_answers.json</a:t>
                      </a:r>
                    </a:p>
                  </a:txBody>
                  <a:tcPr marL="64008" marR="64008" marT="18288" marB="18288" anchor="ctr">
                    <a:solidFill>
                      <a:srgbClr val="F2F2F2"/>
                    </a:solidFill>
                  </a:tcPr>
                </a:tc>
                <a:tc>
                  <a:txBody>
                    <a:bodyPr wrap="square"/>
                    <a:lstStyle/>
                    <a:p>
                      <a:pPr>
                        <a:lnSpc>
                          <a:spcPct val="95000"/>
                        </a:lnSpc>
                        <a:spcAft>
                          <a:spcPts val="0"/>
                        </a:spcAft>
                      </a:pPr>
                      <a:r>
                        <a:rPr sz="1150" b="1">
                          <a:solidFill>
                            <a:srgbClr val="000000"/>
                          </a:solidFill>
                          <a:latin typeface="Calibri"/>
                        </a:rPr>
                        <a:t>Local</a:t>
                      </a:r>
                    </a:p>
                  </a:txBody>
                  <a:tcPr marL="64008" marR="64008" marT="18288" marB="18288" anchor="ctr">
                    <a:solidFill>
                      <a:srgbClr val="F2F2F2"/>
                    </a:solidFill>
                  </a:tcPr>
                </a:tc>
                <a:tc>
                  <a:txBody>
                    <a:bodyPr wrap="square"/>
                    <a:lstStyle/>
                    <a:p>
                      <a:pPr>
                        <a:lnSpc>
                          <a:spcPct val="95000"/>
                        </a:lnSpc>
                        <a:spcAft>
                          <a:spcPts val="0"/>
                        </a:spcAft>
                      </a:pPr>
                      <a:r>
                        <a:rPr sz="1150" b="0">
                          <a:solidFill>
                            <a:srgbClr val="000000"/>
                          </a:solidFill>
                          <a:latin typeface="Calibri"/>
                        </a:rPr>
                        <a:t>No match → normal path</a:t>
                      </a:r>
                    </a:p>
                  </a:txBody>
                  <a:tcPr marL="64008" marR="64008" marT="18288" marB="18288" anchor="ctr">
                    <a:solidFill>
                      <a:srgbClr val="F2F2F2"/>
                    </a:solidFill>
                  </a:tcPr>
                </a:tc>
              </a:tr>
              <a:tr h="292608">
                <a:tc>
                  <a:txBody>
                    <a:bodyPr wrap="square"/>
                    <a:lstStyle/>
                    <a:p>
                      <a:pPr>
                        <a:lnSpc>
                          <a:spcPct val="95000"/>
                        </a:lnSpc>
                        <a:spcAft>
                          <a:spcPts val="0"/>
                        </a:spcAft>
                      </a:pPr>
                      <a:r>
                        <a:rPr sz="1150" b="0">
                          <a:solidFill>
                            <a:srgbClr val="000000"/>
                          </a:solidFill>
                          <a:latin typeface="Calibri"/>
                        </a:rPr>
                        <a:t>Router</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Claude Haiku 4.5</a:t>
                      </a:r>
                    </a:p>
                  </a:txBody>
                  <a:tcPr marL="64008" marR="64008" marT="18288" marB="18288" anchor="ctr">
                    <a:solidFill>
                      <a:srgbClr val="FFFFFF"/>
                    </a:solidFill>
                  </a:tcPr>
                </a:tc>
                <a:tc>
                  <a:txBody>
                    <a:bodyPr wrap="square"/>
                    <a:lstStyle/>
                    <a:p>
                      <a:pPr>
                        <a:lnSpc>
                          <a:spcPct val="95000"/>
                        </a:lnSpc>
                        <a:spcAft>
                          <a:spcPts val="0"/>
                        </a:spcAft>
                      </a:pPr>
                      <a:r>
                        <a:rPr sz="1150" b="1">
                          <a:solidFill>
                            <a:srgbClr val="000000"/>
                          </a:solidFill>
                          <a:latin typeface="Calibri"/>
                        </a:rPr>
                        <a:t>API</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Truncated JSON → anchor routing</a:t>
                      </a:r>
                    </a:p>
                  </a:txBody>
                  <a:tcPr marL="64008" marR="64008" marT="18288" marB="18288" anchor="ctr">
                    <a:solidFill>
                      <a:srgbClr val="FFFFFF"/>
                    </a:solidFill>
                  </a:tcPr>
                </a:tc>
              </a:tr>
              <a:tr h="292608">
                <a:tc>
                  <a:txBody>
                    <a:bodyPr wrap="square"/>
                    <a:lstStyle/>
                    <a:p>
                      <a:pPr>
                        <a:lnSpc>
                          <a:spcPct val="95000"/>
                        </a:lnSpc>
                        <a:spcAft>
                          <a:spcPts val="0"/>
                        </a:spcAft>
                      </a:pPr>
                      <a:r>
                        <a:rPr sz="1150" b="0">
                          <a:solidFill>
                            <a:srgbClr val="000000"/>
                          </a:solidFill>
                          <a:latin typeface="Calibri"/>
                        </a:rPr>
                        <a:t>Retrieval</a:t>
                      </a:r>
                    </a:p>
                  </a:txBody>
                  <a:tcPr marL="64008" marR="64008" marT="18288" marB="18288" anchor="ctr">
                    <a:solidFill>
                      <a:srgbClr val="F2F2F2"/>
                    </a:solidFill>
                  </a:tcPr>
                </a:tc>
                <a:tc>
                  <a:txBody>
                    <a:bodyPr wrap="square"/>
                    <a:lstStyle/>
                    <a:p>
                      <a:pPr>
                        <a:lnSpc>
                          <a:spcPct val="95000"/>
                        </a:lnSpc>
                        <a:spcAft>
                          <a:spcPts val="0"/>
                        </a:spcAft>
                      </a:pPr>
                      <a:r>
                        <a:rPr sz="1150" b="0">
                          <a:solidFill>
                            <a:srgbClr val="000000"/>
                          </a:solidFill>
                          <a:latin typeface="Calibri"/>
                        </a:rPr>
                        <a:t>topic_map.json → whole documents</a:t>
                      </a:r>
                    </a:p>
                  </a:txBody>
                  <a:tcPr marL="64008" marR="64008" marT="18288" marB="18288" anchor="ctr">
                    <a:solidFill>
                      <a:srgbClr val="F2F2F2"/>
                    </a:solidFill>
                  </a:tcPr>
                </a:tc>
                <a:tc>
                  <a:txBody>
                    <a:bodyPr wrap="square"/>
                    <a:lstStyle/>
                    <a:p>
                      <a:pPr>
                        <a:lnSpc>
                          <a:spcPct val="95000"/>
                        </a:lnSpc>
                        <a:spcAft>
                          <a:spcPts val="0"/>
                        </a:spcAft>
                      </a:pPr>
                      <a:r>
                        <a:rPr sz="1150" b="1">
                          <a:solidFill>
                            <a:srgbClr val="000000"/>
                          </a:solidFill>
                          <a:latin typeface="Calibri"/>
                        </a:rPr>
                        <a:t>Local</a:t>
                      </a:r>
                    </a:p>
                  </a:txBody>
                  <a:tcPr marL="64008" marR="64008" marT="18288" marB="18288" anchor="ctr">
                    <a:solidFill>
                      <a:srgbClr val="F2F2F2"/>
                    </a:solidFill>
                  </a:tcPr>
                </a:tc>
                <a:tc>
                  <a:txBody>
                    <a:bodyPr wrap="square"/>
                    <a:lstStyle/>
                    <a:p>
                      <a:pPr>
                        <a:lnSpc>
                          <a:spcPct val="95000"/>
                        </a:lnSpc>
                        <a:spcAft>
                          <a:spcPts val="0"/>
                        </a:spcAft>
                      </a:pPr>
                      <a:r>
                        <a:rPr sz="1150" b="0">
                          <a:solidFill>
                            <a:srgbClr val="000000"/>
                          </a:solidFill>
                          <a:latin typeface="Calibri"/>
                        </a:rPr>
                        <a:t>No match → theme-level documents</a:t>
                      </a:r>
                    </a:p>
                  </a:txBody>
                  <a:tcPr marL="64008" marR="64008" marT="18288" marB="18288" anchor="ctr">
                    <a:solidFill>
                      <a:srgbClr val="F2F2F2"/>
                    </a:solidFill>
                  </a:tcPr>
                </a:tc>
              </a:tr>
              <a:tr h="292608">
                <a:tc>
                  <a:txBody>
                    <a:bodyPr wrap="square"/>
                    <a:lstStyle/>
                    <a:p>
                      <a:pPr>
                        <a:lnSpc>
                          <a:spcPct val="95000"/>
                        </a:lnSpc>
                        <a:spcAft>
                          <a:spcPts val="0"/>
                        </a:spcAft>
                      </a:pPr>
                      <a:r>
                        <a:rPr sz="1150" b="0">
                          <a:solidFill>
                            <a:srgbClr val="000000"/>
                          </a:solidFill>
                          <a:latin typeface="Calibri"/>
                        </a:rPr>
                        <a:t>Inference</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Claude Sonnet 4.6, streamed</a:t>
                      </a:r>
                    </a:p>
                  </a:txBody>
                  <a:tcPr marL="64008" marR="64008" marT="18288" marB="18288" anchor="ctr">
                    <a:solidFill>
                      <a:srgbClr val="FFFFFF"/>
                    </a:solidFill>
                  </a:tcPr>
                </a:tc>
                <a:tc>
                  <a:txBody>
                    <a:bodyPr wrap="square"/>
                    <a:lstStyle/>
                    <a:p>
                      <a:pPr>
                        <a:lnSpc>
                          <a:spcPct val="95000"/>
                        </a:lnSpc>
                        <a:spcAft>
                          <a:spcPts val="0"/>
                        </a:spcAft>
                      </a:pPr>
                      <a:r>
                        <a:rPr sz="1150" b="1">
                          <a:solidFill>
                            <a:srgbClr val="000000"/>
                          </a:solidFill>
                          <a:latin typeface="Calibri"/>
                        </a:rPr>
                        <a:t>API</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Credit/network loss → in-voice degraded line</a:t>
                      </a:r>
                    </a:p>
                  </a:txBody>
                  <a:tcPr marL="64008" marR="64008" marT="18288" marB="18288" anchor="ctr">
                    <a:solidFill>
                      <a:srgbClr val="FFFFFF"/>
                    </a:solidFill>
                  </a:tcPr>
                </a:tc>
              </a:tr>
              <a:tr h="292608">
                <a:tc>
                  <a:txBody>
                    <a:bodyPr wrap="square"/>
                    <a:lstStyle/>
                    <a:p>
                      <a:pPr>
                        <a:lnSpc>
                          <a:spcPct val="95000"/>
                        </a:lnSpc>
                        <a:spcAft>
                          <a:spcPts val="0"/>
                        </a:spcAft>
                      </a:pPr>
                      <a:r>
                        <a:rPr sz="1150" b="0">
                          <a:solidFill>
                            <a:srgbClr val="000000"/>
                          </a:solidFill>
                          <a:latin typeface="Calibri"/>
                        </a:rPr>
                        <a:t>TTS</a:t>
                      </a:r>
                    </a:p>
                  </a:txBody>
                  <a:tcPr marL="64008" marR="64008" marT="18288" marB="18288" anchor="ctr">
                    <a:solidFill>
                      <a:srgbClr val="F2F2F2"/>
                    </a:solidFill>
                  </a:tcPr>
                </a:tc>
                <a:tc>
                  <a:txBody>
                    <a:bodyPr wrap="square"/>
                    <a:lstStyle/>
                    <a:p>
                      <a:pPr>
                        <a:lnSpc>
                          <a:spcPct val="95000"/>
                        </a:lnSpc>
                        <a:spcAft>
                          <a:spcPts val="0"/>
                        </a:spcAft>
                      </a:pPr>
                      <a:r>
                        <a:rPr sz="1150" b="0">
                          <a:solidFill>
                            <a:srgbClr val="000000"/>
                          </a:solidFill>
                          <a:latin typeface="Calibri"/>
                        </a:rPr>
                        <a:t>ElevenLabs clone LeM5jaQwKcHJtzmSBNlA</a:t>
                      </a:r>
                    </a:p>
                  </a:txBody>
                  <a:tcPr marL="64008" marR="64008" marT="18288" marB="18288" anchor="ctr">
                    <a:solidFill>
                      <a:srgbClr val="F2F2F2"/>
                    </a:solidFill>
                  </a:tcPr>
                </a:tc>
                <a:tc>
                  <a:txBody>
                    <a:bodyPr wrap="square"/>
                    <a:lstStyle/>
                    <a:p>
                      <a:pPr>
                        <a:lnSpc>
                          <a:spcPct val="95000"/>
                        </a:lnSpc>
                        <a:spcAft>
                          <a:spcPts val="0"/>
                        </a:spcAft>
                      </a:pPr>
                      <a:r>
                        <a:rPr sz="1150" b="1">
                          <a:solidFill>
                            <a:srgbClr val="000000"/>
                          </a:solidFill>
                          <a:latin typeface="Calibri"/>
                        </a:rPr>
                        <a:t>API</a:t>
                      </a:r>
                    </a:p>
                  </a:txBody>
                  <a:tcPr marL="64008" marR="64008" marT="18288" marB="18288" anchor="ctr">
                    <a:solidFill>
                      <a:srgbClr val="F2F2F2"/>
                    </a:solidFill>
                  </a:tcPr>
                </a:tc>
                <a:tc>
                  <a:txBody>
                    <a:bodyPr wrap="square"/>
                    <a:lstStyle/>
                    <a:p>
                      <a:pPr>
                        <a:lnSpc>
                          <a:spcPct val="95000"/>
                        </a:lnSpc>
                        <a:spcAft>
                          <a:spcPts val="0"/>
                        </a:spcAft>
                      </a:pPr>
                      <a:r>
                        <a:rPr sz="1150" b="1">
                          <a:solidFill>
                            <a:srgbClr val="000000"/>
                          </a:solidFill>
                          <a:latin typeface="Calibri"/>
                        </a:rPr>
                        <a:t>Fails open to OpenAI TTS</a:t>
                      </a:r>
                    </a:p>
                  </a:txBody>
                  <a:tcPr marL="64008" marR="64008" marT="18288" marB="18288" anchor="ctr">
                    <a:solidFill>
                      <a:srgbClr val="F2F2F2"/>
                    </a:solidFill>
                  </a:tcPr>
                </a:tc>
              </a:tr>
              <a:tr h="292608">
                <a:tc>
                  <a:txBody>
                    <a:bodyPr wrap="square"/>
                    <a:lstStyle/>
                    <a:p>
                      <a:pPr>
                        <a:lnSpc>
                          <a:spcPct val="95000"/>
                        </a:lnSpc>
                        <a:spcAft>
                          <a:spcPts val="0"/>
                        </a:spcAft>
                      </a:pPr>
                      <a:r>
                        <a:rPr sz="1150" b="0">
                          <a:solidFill>
                            <a:srgbClr val="000000"/>
                          </a:solidFill>
                          <a:latin typeface="Calibri"/>
                        </a:rPr>
                        <a:t>Audit</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Claude Haiku, asynchronous</a:t>
                      </a:r>
                    </a:p>
                  </a:txBody>
                  <a:tcPr marL="64008" marR="64008" marT="18288" marB="18288" anchor="ctr">
                    <a:solidFill>
                      <a:srgbClr val="FFFFFF"/>
                    </a:solidFill>
                  </a:tcPr>
                </a:tc>
                <a:tc>
                  <a:txBody>
                    <a:bodyPr wrap="square"/>
                    <a:lstStyle/>
                    <a:p>
                      <a:pPr>
                        <a:lnSpc>
                          <a:spcPct val="95000"/>
                        </a:lnSpc>
                        <a:spcAft>
                          <a:spcPts val="0"/>
                        </a:spcAft>
                      </a:pPr>
                      <a:r>
                        <a:rPr sz="1150" b="1">
                          <a:solidFill>
                            <a:srgbClr val="000000"/>
                          </a:solidFill>
                          <a:latin typeface="Calibri"/>
                        </a:rPr>
                        <a:t>API</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Fails open; composer is primary safety</a:t>
                      </a:r>
                    </a:p>
                  </a:txBody>
                  <a:tcPr marL="64008" marR="64008" marT="18288" marB="18288" anchor="ctr">
                    <a:solidFill>
                      <a:srgbClr val="FFFFFF"/>
                    </a:solidFill>
                  </a:tcPr>
                </a:tc>
              </a:tr>
            </a:tbl>
          </a:graphicData>
        </a:graphic>
      </p:graphicFrame>
      <p:sp>
        <p:nvSpPr>
          <p:cNvPr id="7" name="TextBox 6"/>
          <p:cNvSpPr txBox="1"/>
          <p:nvPr/>
        </p:nvSpPr>
        <p:spPr>
          <a:xfrm>
            <a:off x="502920" y="6455664"/>
            <a:ext cx="8229600" cy="274320"/>
          </a:xfrm>
          <a:prstGeom prst="rect">
            <a:avLst/>
          </a:prstGeom>
          <a:noFill/>
        </p:spPr>
        <p:txBody>
          <a:bodyPr wrap="square" lIns="27432" rIns="27432" tIns="0" bIns="0">
            <a:spAutoFit/>
          </a:bodyPr>
          <a:lstStyle/>
          <a:p>
            <a:pPr algn="l">
              <a:lnSpc>
                <a:spcPct val="100000"/>
              </a:lnSpc>
              <a:spcAft>
                <a:spcPts val="400"/>
              </a:spcAft>
            </a:pPr>
            <a:r>
              <a:rPr sz="850" b="0">
                <a:solidFill>
                  <a:srgbClr val="808080"/>
                </a:solidFill>
                <a:latin typeface="Calibri"/>
              </a:rPr>
              <a:t>Supervaise Inc. — CJAP handover · repo pi/deployment-snapshots @ 2545882 (2026-08-31)</a:t>
            </a:r>
          </a:p>
        </p:txBody>
      </p:sp>
      <p:sp>
        <p:nvSpPr>
          <p:cNvPr id="8" name="TextBox 7"/>
          <p:cNvSpPr txBox="1"/>
          <p:nvPr/>
        </p:nvSpPr>
        <p:spPr>
          <a:xfrm>
            <a:off x="11064240" y="6455664"/>
            <a:ext cx="685800" cy="274320"/>
          </a:xfrm>
          <a:prstGeom prst="rect">
            <a:avLst/>
          </a:prstGeom>
          <a:noFill/>
        </p:spPr>
        <p:txBody>
          <a:bodyPr wrap="square" lIns="27432" rIns="27432" tIns="0" bIns="0">
            <a:spAutoFit/>
          </a:bodyPr>
          <a:lstStyle/>
          <a:p>
            <a:pPr algn="r">
              <a:lnSpc>
                <a:spcPct val="100000"/>
              </a:lnSpc>
              <a:spcAft>
                <a:spcPts val="400"/>
              </a:spcAft>
            </a:pPr>
            <a:r>
              <a:rPr sz="900" b="0">
                <a:solidFill>
                  <a:srgbClr val="80808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02920" y="164592"/>
            <a:ext cx="10424160" cy="457200"/>
          </a:xfrm>
          <a:prstGeom prst="rect">
            <a:avLst/>
          </a:prstGeom>
          <a:noFill/>
        </p:spPr>
        <p:txBody>
          <a:bodyPr wrap="square" lIns="27432" rIns="27432" tIns="0" bIns="0">
            <a:spAutoFit/>
          </a:bodyPr>
          <a:lstStyle/>
          <a:p>
            <a:pPr algn="l">
              <a:lnSpc>
                <a:spcPct val="100000"/>
              </a:lnSpc>
              <a:spcAft>
                <a:spcPts val="400"/>
              </a:spcAft>
            </a:pPr>
            <a:r>
              <a:rPr sz="2700" b="1">
                <a:solidFill>
                  <a:srgbClr val="FFFFFF"/>
                </a:solidFill>
                <a:latin typeface="Calibri"/>
              </a:rPr>
              <a:t>Knowledge base</a:t>
            </a:r>
          </a:p>
        </p:txBody>
      </p:sp>
      <p:sp>
        <p:nvSpPr>
          <p:cNvPr id="4" name="TextBox 3"/>
          <p:cNvSpPr txBox="1"/>
          <p:nvPr/>
        </p:nvSpPr>
        <p:spPr>
          <a:xfrm>
            <a:off x="502920" y="566928"/>
            <a:ext cx="10424160" cy="274320"/>
          </a:xfrm>
          <a:prstGeom prst="rect">
            <a:avLst/>
          </a:prstGeom>
          <a:noFill/>
        </p:spPr>
        <p:txBody>
          <a:bodyPr wrap="square" lIns="27432" rIns="27432" tIns="0" bIns="0">
            <a:spAutoFit/>
          </a:bodyPr>
          <a:lstStyle/>
          <a:p>
            <a:pPr algn="l">
              <a:lnSpc>
                <a:spcPct val="100000"/>
              </a:lnSpc>
              <a:spcAft>
                <a:spcPts val="400"/>
              </a:spcAft>
            </a:pPr>
            <a:r>
              <a:rPr sz="1150" b="0">
                <a:solidFill>
                  <a:srgbClr val="C8E6C8"/>
                </a:solidFill>
                <a:latin typeface="Calibri"/>
              </a:rPr>
              <a:t>79 documents · 35 topics · curated</a:t>
            </a:r>
          </a:p>
        </p:txBody>
      </p:sp>
      <p:sp>
        <p:nvSpPr>
          <p:cNvPr id="5" name="Rectangle 4"/>
          <p:cNvSpPr/>
          <p:nvPr/>
        </p:nvSpPr>
        <p:spPr>
          <a:xfrm>
            <a:off x="0" y="841248"/>
            <a:ext cx="12191695" cy="41148"/>
          </a:xfrm>
          <a:prstGeom prst="rect">
            <a:avLst/>
          </a:prstGeom>
          <a:solidFill>
            <a:srgbClr val="00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640080" y="1371600"/>
            <a:ext cx="5669280" cy="4023360"/>
          </a:xfrm>
          <a:prstGeom prst="rect">
            <a:avLst/>
          </a:prstGeom>
          <a:noFill/>
        </p:spPr>
        <p:txBody>
          <a:bodyPr wrap="square" lIns="0" rIns="0" tIns="0" bIns="0">
            <a:spAutoFit/>
          </a:bodyPr>
          <a:lstStyle/>
          <a:p>
            <a:pPr>
              <a:lnSpc>
                <a:spcPct val="102000"/>
              </a:lnSpc>
              <a:spcAft>
                <a:spcPts val="2600"/>
              </a:spcAft>
            </a:pPr>
            <a:r>
              <a:rPr sz="1800">
                <a:solidFill>
                  <a:srgbClr val="00CC00"/>
                </a:solidFill>
                <a:latin typeface="Calibri"/>
              </a:rPr>
              <a:t>▪  </a:t>
            </a:r>
            <a:r>
              <a:rPr sz="1800" b="1">
                <a:solidFill>
                  <a:srgbClr val="000000"/>
                </a:solidFill>
                <a:latin typeface="Calibri"/>
              </a:rPr>
              <a:t>64 columns + 15 speeches = 79 documents</a:t>
            </a:r>
          </a:p>
          <a:p>
            <a:pPr>
              <a:lnSpc>
                <a:spcPct val="102000"/>
              </a:lnSpc>
              <a:spcAft>
                <a:spcPts val="2600"/>
              </a:spcAft>
            </a:pPr>
            <a:r>
              <a:rPr sz="1800">
                <a:solidFill>
                  <a:srgbClr val="00CC00"/>
                </a:solidFill>
                <a:latin typeface="Calibri"/>
              </a:rPr>
              <a:t>▪  </a:t>
            </a:r>
            <a:r>
              <a:rPr sz="1800" b="1">
                <a:solidFill>
                  <a:srgbClr val="000000"/>
                </a:solidFill>
                <a:latin typeface="Calibri"/>
              </a:rPr>
              <a:t>35 curated topics</a:t>
            </a:r>
            <a:r>
              <a:rPr sz="1800" b="0">
                <a:solidFill>
                  <a:srgbClr val="000000"/>
                </a:solidFill>
                <a:latin typeface="Calibri"/>
              </a:rPr>
              <a:t>, four tiers</a:t>
            </a:r>
          </a:p>
          <a:p>
            <a:pPr>
              <a:lnSpc>
                <a:spcPct val="102000"/>
              </a:lnSpc>
              <a:spcAft>
                <a:spcPts val="2600"/>
              </a:spcAft>
            </a:pPr>
            <a:r>
              <a:rPr sz="1800">
                <a:solidFill>
                  <a:srgbClr val="00CC00"/>
                </a:solidFill>
                <a:latin typeface="Calibri"/>
              </a:rPr>
              <a:t>▪  </a:t>
            </a:r>
            <a:r>
              <a:rPr sz="1800" b="1">
                <a:solidFill>
                  <a:srgbClr val="000000"/>
                </a:solidFill>
                <a:latin typeface="Calibri"/>
              </a:rPr>
              <a:t>No vector search</a:t>
            </a:r>
            <a:r>
              <a:rPr sz="1800" b="0">
                <a:solidFill>
                  <a:srgbClr val="000000"/>
                </a:solidFill>
                <a:latin typeface="Calibri"/>
              </a:rPr>
              <a:t> — curated lookup, not similarity</a:t>
            </a:r>
          </a:p>
        </p:txBody>
      </p:sp>
      <p:sp>
        <p:nvSpPr>
          <p:cNvPr id="7" name="Rounded Rectangle 6"/>
          <p:cNvSpPr/>
          <p:nvPr/>
        </p:nvSpPr>
        <p:spPr>
          <a:xfrm>
            <a:off x="6720840" y="1280160"/>
            <a:ext cx="4892040" cy="2286000"/>
          </a:xfrm>
          <a:prstGeom prst="roundRect">
            <a:avLst/>
          </a:prstGeom>
          <a:solidFill>
            <a:srgbClr val="F2F2F2"/>
          </a:solidFill>
          <a:ln w="1587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903720" y="1463040"/>
            <a:ext cx="4572000" cy="2011680"/>
          </a:xfrm>
          <a:prstGeom prst="rect">
            <a:avLst/>
          </a:prstGeom>
          <a:noFill/>
        </p:spPr>
        <p:txBody>
          <a:bodyPr wrap="square" lIns="27432" rIns="27432" tIns="0" bIns="0">
            <a:spAutoFit/>
          </a:bodyPr>
          <a:lstStyle/>
          <a:p>
            <a:pPr algn="l">
              <a:lnSpc>
                <a:spcPct val="100000"/>
              </a:lnSpc>
              <a:spcAft>
                <a:spcPts val="400"/>
              </a:spcAft>
            </a:pPr>
            <a:r>
              <a:rPr sz="1300" b="0">
                <a:solidFill>
                  <a:srgbClr val="2D2D2D"/>
                </a:solidFill>
                <a:latin typeface="Consolas"/>
              </a:rPr>
              <a:t>CURATION PIPELINE</a:t>
            </a:r>
          </a:p>
          <a:p>
            <a:pPr algn="l">
              <a:lnSpc>
                <a:spcPct val="100000"/>
              </a:lnSpc>
              <a:spcAft>
                <a:spcPts val="400"/>
              </a:spcAft>
            </a:pPr>
            <a:r>
              <a:rPr sz="1300" b="0">
                <a:solidFill>
                  <a:srgbClr val="2D2D2D"/>
                </a:solidFill>
                <a:latin typeface="Consolas"/>
              </a:rPr>
              <a:t/>
            </a:r>
          </a:p>
          <a:p>
            <a:pPr algn="l">
              <a:lnSpc>
                <a:spcPct val="100000"/>
              </a:lnSpc>
              <a:spcAft>
                <a:spcPts val="400"/>
              </a:spcAft>
            </a:pPr>
            <a:r>
              <a:rPr sz="1300" b="0">
                <a:solidFill>
                  <a:srgbClr val="2D2D2D"/>
                </a:solidFill>
                <a:latin typeface="Consolas"/>
              </a:rPr>
              <a:t>data/csv  +  data/text</a:t>
            </a:r>
          </a:p>
          <a:p>
            <a:pPr algn="l">
              <a:lnSpc>
                <a:spcPct val="100000"/>
              </a:lnSpc>
              <a:spcAft>
                <a:spcPts val="400"/>
              </a:spcAft>
            </a:pPr>
            <a:r>
              <a:rPr sz="1300" b="0">
                <a:solidFill>
                  <a:srgbClr val="2D2D2D"/>
                </a:solidFill>
                <a:latin typeface="Consolas"/>
              </a:rPr>
              <a:t>        ↓  generate_corpus_files.py</a:t>
            </a:r>
          </a:p>
          <a:p>
            <a:pPr algn="l">
              <a:lnSpc>
                <a:spcPct val="100000"/>
              </a:lnSpc>
              <a:spcAft>
                <a:spcPts val="400"/>
              </a:spcAft>
            </a:pPr>
            <a:r>
              <a:rPr sz="1300" b="0">
                <a:solidFill>
                  <a:srgbClr val="2D2D2D"/>
                </a:solidFill>
                <a:latin typeface="Consolas"/>
              </a:rPr>
              <a:t>corpus/**/*.md  +  *.json</a:t>
            </a:r>
          </a:p>
          <a:p>
            <a:pPr algn="l">
              <a:lnSpc>
                <a:spcPct val="100000"/>
              </a:lnSpc>
              <a:spcAft>
                <a:spcPts val="400"/>
              </a:spcAft>
            </a:pPr>
            <a:r>
              <a:rPr sz="1300" b="0">
                <a:solidFill>
                  <a:srgbClr val="2D2D2D"/>
                </a:solidFill>
                <a:latin typeface="Consolas"/>
              </a:rPr>
              <a:t>        ↓  build_topic_map.py</a:t>
            </a:r>
          </a:p>
          <a:p>
            <a:pPr algn="l">
              <a:lnSpc>
                <a:spcPct val="100000"/>
              </a:lnSpc>
              <a:spcAft>
                <a:spcPts val="400"/>
              </a:spcAft>
            </a:pPr>
            <a:r>
              <a:rPr sz="1300" b="0">
                <a:solidFill>
                  <a:srgbClr val="2D2D2D"/>
                </a:solidFill>
                <a:latin typeface="Consolas"/>
              </a:rPr>
              <a:t>corpus/voice/topic_map.json   (35)</a:t>
            </a:r>
          </a:p>
        </p:txBody>
      </p:sp>
      <p:sp>
        <p:nvSpPr>
          <p:cNvPr id="9" name="Rectangle 8"/>
          <p:cNvSpPr/>
          <p:nvPr/>
        </p:nvSpPr>
        <p:spPr>
          <a:xfrm>
            <a:off x="6720840" y="3794760"/>
            <a:ext cx="4892040" cy="1828800"/>
          </a:xfrm>
          <a:prstGeom prst="rect">
            <a:avLst/>
          </a:prstGeom>
          <a:solidFill>
            <a:srgbClr val="EFF7EF"/>
          </a:solidFill>
          <a:ln w="15875">
            <a:solidFill>
              <a:srgbClr val="00CC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lnSpc>
                <a:spcPct val="102000"/>
              </a:lnSpc>
              <a:spcAft>
                <a:spcPts val="500"/>
              </a:spcAft>
            </a:pPr>
            <a:r>
              <a:rPr sz="1350" b="0">
                <a:solidFill>
                  <a:srgbClr val="000000"/>
                </a:solidFill>
                <a:latin typeface="Calibri"/>
              </a:rPr>
              <a:t>Routing accuracy</a:t>
            </a:r>
          </a:p>
          <a:p>
            <a:pPr>
              <a:lnSpc>
                <a:spcPct val="102000"/>
              </a:lnSpc>
              <a:spcAft>
                <a:spcPts val="500"/>
              </a:spcAft>
            </a:pPr>
            <a:r>
              <a:rPr sz="1350" b="1">
                <a:solidFill>
                  <a:srgbClr val="000000"/>
                </a:solidFill>
                <a:latin typeface="Calibri"/>
              </a:rPr>
              <a:t>96.7% Measured</a:t>
            </a:r>
            <a:r>
              <a:rPr sz="1350" b="0">
                <a:solidFill>
                  <a:srgbClr val="000000"/>
                </a:solidFill>
                <a:latin typeface="Calibri"/>
              </a:rPr>
              <a:t> against a </a:t>
            </a:r>
            <a:r>
              <a:rPr sz="1350" b="1">
                <a:solidFill>
                  <a:srgbClr val="000000"/>
                </a:solidFill>
                <a:latin typeface="Calibri"/>
              </a:rPr>
              <a:t>Target of ≥85%</a:t>
            </a:r>
            <a:r>
              <a:rPr sz="1350" b="0">
                <a:solidFill>
                  <a:srgbClr val="000000"/>
                </a:solidFill>
                <a:latin typeface="Calibri"/>
              </a:rPr>
              <a:t>.</a:t>
            </a:r>
          </a:p>
        </p:txBody>
      </p:sp>
      <p:sp>
        <p:nvSpPr>
          <p:cNvPr id="10" name="TextBox 9"/>
          <p:cNvSpPr txBox="1"/>
          <p:nvPr/>
        </p:nvSpPr>
        <p:spPr>
          <a:xfrm>
            <a:off x="502920" y="6455664"/>
            <a:ext cx="8229600" cy="274320"/>
          </a:xfrm>
          <a:prstGeom prst="rect">
            <a:avLst/>
          </a:prstGeom>
          <a:noFill/>
        </p:spPr>
        <p:txBody>
          <a:bodyPr wrap="square" lIns="27432" rIns="27432" tIns="0" bIns="0">
            <a:spAutoFit/>
          </a:bodyPr>
          <a:lstStyle/>
          <a:p>
            <a:pPr algn="l">
              <a:lnSpc>
                <a:spcPct val="100000"/>
              </a:lnSpc>
              <a:spcAft>
                <a:spcPts val="400"/>
              </a:spcAft>
            </a:pPr>
            <a:r>
              <a:rPr sz="850" b="0">
                <a:solidFill>
                  <a:srgbClr val="808080"/>
                </a:solidFill>
                <a:latin typeface="Calibri"/>
              </a:rPr>
              <a:t>Supervaise Inc. — CJAP handover · repo pi/deployment-snapshots @ 2545882 (2026-08-31)</a:t>
            </a:r>
          </a:p>
        </p:txBody>
      </p:sp>
      <p:sp>
        <p:nvSpPr>
          <p:cNvPr id="11" name="TextBox 10"/>
          <p:cNvSpPr txBox="1"/>
          <p:nvPr/>
        </p:nvSpPr>
        <p:spPr>
          <a:xfrm>
            <a:off x="11064240" y="6455664"/>
            <a:ext cx="685800" cy="274320"/>
          </a:xfrm>
          <a:prstGeom prst="rect">
            <a:avLst/>
          </a:prstGeom>
          <a:noFill/>
        </p:spPr>
        <p:txBody>
          <a:bodyPr wrap="square" lIns="27432" rIns="27432" tIns="0" bIns="0">
            <a:spAutoFit/>
          </a:bodyPr>
          <a:lstStyle/>
          <a:p>
            <a:pPr algn="r">
              <a:lnSpc>
                <a:spcPct val="100000"/>
              </a:lnSpc>
              <a:spcAft>
                <a:spcPts val="400"/>
              </a:spcAft>
            </a:pPr>
            <a:r>
              <a:rPr sz="900" b="0">
                <a:solidFill>
                  <a:srgbClr val="80808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02920" y="164592"/>
            <a:ext cx="10424160" cy="457200"/>
          </a:xfrm>
          <a:prstGeom prst="rect">
            <a:avLst/>
          </a:prstGeom>
          <a:noFill/>
        </p:spPr>
        <p:txBody>
          <a:bodyPr wrap="square" lIns="27432" rIns="27432" tIns="0" bIns="0">
            <a:spAutoFit/>
          </a:bodyPr>
          <a:lstStyle/>
          <a:p>
            <a:pPr algn="l">
              <a:lnSpc>
                <a:spcPct val="100000"/>
              </a:lnSpc>
              <a:spcAft>
                <a:spcPts val="400"/>
              </a:spcAft>
            </a:pPr>
            <a:r>
              <a:rPr sz="2700" b="1">
                <a:solidFill>
                  <a:srgbClr val="FFFFFF"/>
                </a:solidFill>
                <a:latin typeface="Calibri"/>
              </a:rPr>
              <a:t>Robot operating cycle</a:t>
            </a:r>
          </a:p>
        </p:txBody>
      </p:sp>
      <p:sp>
        <p:nvSpPr>
          <p:cNvPr id="4" name="TextBox 3"/>
          <p:cNvSpPr txBox="1"/>
          <p:nvPr/>
        </p:nvSpPr>
        <p:spPr>
          <a:xfrm>
            <a:off x="502920" y="566928"/>
            <a:ext cx="10424160" cy="274320"/>
          </a:xfrm>
          <a:prstGeom prst="rect">
            <a:avLst/>
          </a:prstGeom>
          <a:noFill/>
        </p:spPr>
        <p:txBody>
          <a:bodyPr wrap="square" lIns="27432" rIns="27432" tIns="0" bIns="0">
            <a:spAutoFit/>
          </a:bodyPr>
          <a:lstStyle/>
          <a:p>
            <a:pPr algn="l">
              <a:lnSpc>
                <a:spcPct val="100000"/>
              </a:lnSpc>
              <a:spcAft>
                <a:spcPts val="400"/>
              </a:spcAft>
            </a:pPr>
            <a:r>
              <a:rPr sz="1150" b="0">
                <a:solidFill>
                  <a:srgbClr val="C8E6C8"/>
                </a:solidFill>
                <a:latin typeface="Calibri"/>
              </a:rPr>
              <a:t>Every step has a timeout, a barge-in and an error path</a:t>
            </a:r>
          </a:p>
        </p:txBody>
      </p:sp>
      <p:sp>
        <p:nvSpPr>
          <p:cNvPr id="5" name="Rectangle 4"/>
          <p:cNvSpPr/>
          <p:nvPr/>
        </p:nvSpPr>
        <p:spPr>
          <a:xfrm>
            <a:off x="0" y="841248"/>
            <a:ext cx="12191695" cy="41148"/>
          </a:xfrm>
          <a:prstGeom prst="rect">
            <a:avLst/>
          </a:prstGeom>
          <a:solidFill>
            <a:srgbClr val="00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graphicFrame>
        <p:nvGraphicFramePr>
          <p:cNvPr id="6" name="Table 5"/>
          <p:cNvGraphicFramePr>
            <a:graphicFrameLocks noGrp="1"/>
          </p:cNvGraphicFramePr>
          <p:nvPr/>
        </p:nvGraphicFramePr>
        <p:xfrm>
          <a:off x="502920" y="1143000"/>
          <a:ext cx="11155679" cy="2670048"/>
        </p:xfrm>
        <a:graphic>
          <a:graphicData uri="http://schemas.openxmlformats.org/drawingml/2006/table">
            <a:tbl>
              <a:tblPr firstRow="1" bandRow="1">
                <a:tableStyleId>{5C22544A-7EE6-4342-B048-85BDC9FD1C3A}</a:tableStyleId>
              </a:tblPr>
              <a:tblGrid>
                <a:gridCol w="1652693"/>
                <a:gridCol w="6817360"/>
                <a:gridCol w="2685626"/>
              </a:tblGrid>
              <a:tr h="329184">
                <a:tc>
                  <a:txBody>
                    <a:bodyPr wrap="square"/>
                    <a:lstStyle/>
                    <a:p>
                      <a:pPr>
                        <a:lnSpc>
                          <a:spcPct val="95000"/>
                        </a:lnSpc>
                        <a:spcAft>
                          <a:spcPts val="0"/>
                        </a:spcAft>
                      </a:pPr>
                      <a:r>
                        <a:rPr sz="1200" b="1">
                          <a:solidFill>
                            <a:srgbClr val="FFFFFF"/>
                          </a:solidFill>
                          <a:latin typeface="Calibri"/>
                        </a:rPr>
                        <a:t>Step</a:t>
                      </a:r>
                    </a:p>
                  </a:txBody>
                  <a:tcPr marL="64008" marR="64008" marT="18288" marB="18288" anchor="ctr">
                    <a:solidFill>
                      <a:srgbClr val="2D2D2D"/>
                    </a:solidFill>
                  </a:tcPr>
                </a:tc>
                <a:tc>
                  <a:txBody>
                    <a:bodyPr wrap="square"/>
                    <a:lstStyle/>
                    <a:p>
                      <a:pPr>
                        <a:lnSpc>
                          <a:spcPct val="95000"/>
                        </a:lnSpc>
                        <a:spcAft>
                          <a:spcPts val="0"/>
                        </a:spcAft>
                      </a:pPr>
                      <a:r>
                        <a:rPr sz="1200" b="1">
                          <a:solidFill>
                            <a:srgbClr val="FFFFFF"/>
                          </a:solidFill>
                          <a:latin typeface="Calibri"/>
                        </a:rPr>
                        <a:t>Timeout / barge-in / error path</a:t>
                      </a:r>
                    </a:p>
                  </a:txBody>
                  <a:tcPr marL="64008" marR="64008" marT="18288" marB="18288" anchor="ctr">
                    <a:solidFill>
                      <a:srgbClr val="2D2D2D"/>
                    </a:solidFill>
                  </a:tcPr>
                </a:tc>
                <a:tc>
                  <a:txBody>
                    <a:bodyPr wrap="square"/>
                    <a:lstStyle/>
                    <a:p>
                      <a:pPr>
                        <a:lnSpc>
                          <a:spcPct val="95000"/>
                        </a:lnSpc>
                        <a:spcAft>
                          <a:spcPts val="0"/>
                        </a:spcAft>
                      </a:pPr>
                      <a:r>
                        <a:rPr sz="1200" b="1">
                          <a:solidFill>
                            <a:srgbClr val="FFFFFF"/>
                          </a:solidFill>
                          <a:latin typeface="Calibri"/>
                        </a:rPr>
                        <a:t>Duration</a:t>
                      </a:r>
                    </a:p>
                  </a:txBody>
                  <a:tcPr marL="64008" marR="64008" marT="18288" marB="18288" anchor="ctr">
                    <a:solidFill>
                      <a:srgbClr val="2D2D2D"/>
                    </a:solidFill>
                  </a:tcPr>
                </a:tc>
              </a:tr>
              <a:tr h="292608">
                <a:tc>
                  <a:txBody>
                    <a:bodyPr wrap="square"/>
                    <a:lstStyle/>
                    <a:p>
                      <a:pPr>
                        <a:lnSpc>
                          <a:spcPct val="95000"/>
                        </a:lnSpc>
                        <a:spcAft>
                          <a:spcPts val="0"/>
                        </a:spcAft>
                      </a:pPr>
                      <a:r>
                        <a:rPr sz="1100" b="0">
                          <a:solidFill>
                            <a:srgbClr val="000000"/>
                          </a:solidFill>
                          <a:latin typeface="Calibri"/>
                        </a:rPr>
                        <a:t>Idle</a:t>
                      </a:r>
                    </a:p>
                  </a:txBody>
                  <a:tcPr marL="64008" marR="64008" marT="18288" marB="18288" anchor="ctr">
                    <a:solidFill>
                      <a:srgbClr val="FFFFFF"/>
                    </a:solidFill>
                  </a:tcPr>
                </a:tc>
                <a:tc>
                  <a:txBody>
                    <a:bodyPr wrap="square"/>
                    <a:lstStyle/>
                    <a:p>
                      <a:pPr>
                        <a:lnSpc>
                          <a:spcPct val="95000"/>
                        </a:lnSpc>
                        <a:spcAft>
                          <a:spcPts val="0"/>
                        </a:spcAft>
                      </a:pPr>
                      <a:r>
                        <a:rPr sz="1100" b="0">
                          <a:solidFill>
                            <a:srgbClr val="000000"/>
                          </a:solidFill>
                          <a:latin typeface="Calibri"/>
                        </a:rPr>
                        <a:t>Alive gesture every 10 s · no timeout · service starts at boot</a:t>
                      </a:r>
                    </a:p>
                  </a:txBody>
                  <a:tcPr marL="64008" marR="64008" marT="18288" marB="18288" anchor="ctr">
                    <a:solidFill>
                      <a:srgbClr val="FFFFFF"/>
                    </a:solidFill>
                  </a:tcPr>
                </a:tc>
                <a:tc>
                  <a:txBody>
                    <a:bodyPr wrap="square"/>
                    <a:lstStyle/>
                    <a:p>
                      <a:pPr>
                        <a:lnSpc>
                          <a:spcPct val="95000"/>
                        </a:lnSpc>
                        <a:spcAft>
                          <a:spcPts val="0"/>
                        </a:spcAft>
                      </a:pPr>
                      <a:r>
                        <a:rPr sz="1100" b="1">
                          <a:solidFill>
                            <a:srgbClr val="000000"/>
                          </a:solidFill>
                          <a:latin typeface="Calibri"/>
                        </a:rPr>
                        <a:t>Measured</a:t>
                      </a:r>
                      <a:r>
                        <a:rPr sz="1100" b="0">
                          <a:solidFill>
                            <a:srgbClr val="000000"/>
                          </a:solidFill>
                          <a:latin typeface="Calibri"/>
                        </a:rPr>
                        <a:t> indefinite</a:t>
                      </a:r>
                    </a:p>
                  </a:txBody>
                  <a:tcPr marL="64008" marR="64008" marT="18288" marB="18288" anchor="ctr">
                    <a:solidFill>
                      <a:srgbClr val="FFFFFF"/>
                    </a:solidFill>
                  </a:tcPr>
                </a:tc>
              </a:tr>
              <a:tr h="292608">
                <a:tc>
                  <a:txBody>
                    <a:bodyPr wrap="square"/>
                    <a:lstStyle/>
                    <a:p>
                      <a:pPr>
                        <a:lnSpc>
                          <a:spcPct val="95000"/>
                        </a:lnSpc>
                        <a:spcAft>
                          <a:spcPts val="0"/>
                        </a:spcAft>
                      </a:pPr>
                      <a:r>
                        <a:rPr sz="1100" b="0">
                          <a:solidFill>
                            <a:srgbClr val="000000"/>
                          </a:solidFill>
                          <a:latin typeface="Calibri"/>
                        </a:rPr>
                        <a:t>Wake detected</a:t>
                      </a:r>
                    </a:p>
                  </a:txBody>
                  <a:tcPr marL="64008" marR="64008" marT="18288" marB="18288" anchor="ctr">
                    <a:solidFill>
                      <a:srgbClr val="F2F2F2"/>
                    </a:solidFill>
                  </a:tcPr>
                </a:tc>
                <a:tc>
                  <a:txBody>
                    <a:bodyPr wrap="square"/>
                    <a:lstStyle/>
                    <a:p>
                      <a:pPr>
                        <a:lnSpc>
                          <a:spcPct val="95000"/>
                        </a:lnSpc>
                        <a:spcAft>
                          <a:spcPts val="0"/>
                        </a:spcAft>
                      </a:pPr>
                      <a:r>
                        <a:rPr sz="1100" b="0">
                          <a:solidFill>
                            <a:srgbClr val="000000"/>
                          </a:solidFill>
                          <a:latin typeface="Calibri"/>
                        </a:rPr>
                        <a:t>Score ≥ 0.08 in a 2.5 s window · miss → operator force-listen</a:t>
                      </a:r>
                    </a:p>
                  </a:txBody>
                  <a:tcPr marL="64008" marR="64008" marT="18288" marB="18288" anchor="ctr">
                    <a:solidFill>
                      <a:srgbClr val="F2F2F2"/>
                    </a:solidFill>
                  </a:tcPr>
                </a:tc>
                <a:tc>
                  <a:txBody>
                    <a:bodyPr wrap="square"/>
                    <a:lstStyle/>
                    <a:p>
                      <a:pPr>
                        <a:lnSpc>
                          <a:spcPct val="95000"/>
                        </a:lnSpc>
                        <a:spcAft>
                          <a:spcPts val="0"/>
                        </a:spcAft>
                      </a:pPr>
                      <a:r>
                        <a:rPr sz="1100" b="1">
                          <a:solidFill>
                            <a:srgbClr val="000000"/>
                          </a:solidFill>
                          <a:latin typeface="Calibri"/>
                        </a:rPr>
                        <a:t>Measured</a:t>
                      </a:r>
                      <a:r>
                        <a:rPr sz="1100" b="0">
                          <a:solidFill>
                            <a:srgbClr val="000000"/>
                          </a:solidFill>
                          <a:latin typeface="Calibri"/>
                        </a:rPr>
                        <a:t> 0.33–0.6 s</a:t>
                      </a:r>
                    </a:p>
                  </a:txBody>
                  <a:tcPr marL="64008" marR="64008" marT="18288" marB="18288" anchor="ctr">
                    <a:solidFill>
                      <a:srgbClr val="F2F2F2"/>
                    </a:solidFill>
                  </a:tcPr>
                </a:tc>
              </a:tr>
              <a:tr h="292608">
                <a:tc>
                  <a:txBody>
                    <a:bodyPr wrap="square"/>
                    <a:lstStyle/>
                    <a:p>
                      <a:pPr>
                        <a:lnSpc>
                          <a:spcPct val="95000"/>
                        </a:lnSpc>
                        <a:spcAft>
                          <a:spcPts val="0"/>
                        </a:spcAft>
                      </a:pPr>
                      <a:r>
                        <a:rPr sz="1100" b="0">
                          <a:solidFill>
                            <a:srgbClr val="000000"/>
                          </a:solidFill>
                          <a:latin typeface="Calibri"/>
                        </a:rPr>
                        <a:t>Listening</a:t>
                      </a:r>
                    </a:p>
                  </a:txBody>
                  <a:tcPr marL="64008" marR="64008" marT="18288" marB="18288" anchor="ctr">
                    <a:solidFill>
                      <a:srgbClr val="FFFFFF"/>
                    </a:solidFill>
                  </a:tcPr>
                </a:tc>
                <a:tc>
                  <a:txBody>
                    <a:bodyPr wrap="square"/>
                    <a:lstStyle/>
                    <a:p>
                      <a:pPr>
                        <a:lnSpc>
                          <a:spcPct val="95000"/>
                        </a:lnSpc>
                        <a:spcAft>
                          <a:spcPts val="0"/>
                        </a:spcAft>
                      </a:pPr>
                      <a:r>
                        <a:rPr sz="1100" b="0">
                          <a:solidFill>
                            <a:srgbClr val="000000"/>
                          </a:solidFill>
                          <a:latin typeface="Calibri"/>
                        </a:rPr>
                        <a:t>Closes after 1.5 s silence · under 0.4 s of speech is discarded</a:t>
                      </a:r>
                    </a:p>
                  </a:txBody>
                  <a:tcPr marL="64008" marR="64008" marT="18288" marB="18288" anchor="ctr">
                    <a:solidFill>
                      <a:srgbClr val="FFFFFF"/>
                    </a:solidFill>
                  </a:tcPr>
                </a:tc>
                <a:tc>
                  <a:txBody>
                    <a:bodyPr wrap="square"/>
                    <a:lstStyle/>
                    <a:p>
                      <a:pPr>
                        <a:lnSpc>
                          <a:spcPct val="95000"/>
                        </a:lnSpc>
                        <a:spcAft>
                          <a:spcPts val="0"/>
                        </a:spcAft>
                      </a:pPr>
                      <a:r>
                        <a:rPr sz="1100" b="1">
                          <a:solidFill>
                            <a:srgbClr val="000000"/>
                          </a:solidFill>
                          <a:latin typeface="Calibri"/>
                        </a:rPr>
                        <a:t>Measured</a:t>
                      </a:r>
                      <a:r>
                        <a:rPr sz="1100" b="0">
                          <a:solidFill>
                            <a:srgbClr val="000000"/>
                          </a:solidFill>
                          <a:latin typeface="Calibri"/>
                        </a:rPr>
                        <a:t> 1.6–3.1 s</a:t>
                      </a:r>
                    </a:p>
                  </a:txBody>
                  <a:tcPr marL="64008" marR="64008" marT="18288" marB="18288" anchor="ctr">
                    <a:solidFill>
                      <a:srgbClr val="FFFFFF"/>
                    </a:solidFill>
                  </a:tcPr>
                </a:tc>
              </a:tr>
              <a:tr h="292608">
                <a:tc>
                  <a:txBody>
                    <a:bodyPr wrap="square"/>
                    <a:lstStyle/>
                    <a:p>
                      <a:pPr>
                        <a:lnSpc>
                          <a:spcPct val="95000"/>
                        </a:lnSpc>
                        <a:spcAft>
                          <a:spcPts val="0"/>
                        </a:spcAft>
                      </a:pPr>
                      <a:r>
                        <a:rPr sz="1100" b="0">
                          <a:solidFill>
                            <a:srgbClr val="000000"/>
                          </a:solidFill>
                          <a:latin typeface="Calibri"/>
                        </a:rPr>
                        <a:t>Transcribing</a:t>
                      </a:r>
                    </a:p>
                  </a:txBody>
                  <a:tcPr marL="64008" marR="64008" marT="18288" marB="18288" anchor="ctr">
                    <a:solidFill>
                      <a:srgbClr val="F2F2F2"/>
                    </a:solidFill>
                  </a:tcPr>
                </a:tc>
                <a:tc>
                  <a:txBody>
                    <a:bodyPr wrap="square"/>
                    <a:lstStyle/>
                    <a:p>
                      <a:pPr>
                        <a:lnSpc>
                          <a:spcPct val="95000"/>
                        </a:lnSpc>
                        <a:spcAft>
                          <a:spcPts val="0"/>
                        </a:spcAft>
                      </a:pPr>
                      <a:r>
                        <a:rPr sz="1100" b="0">
                          <a:solidFill>
                            <a:srgbClr val="000000"/>
                          </a:solidFill>
                          <a:latin typeface="Calibri"/>
                        </a:rPr>
                        <a:t>“Ah.” plays · no STT failover · offline → not-connected clip</a:t>
                      </a:r>
                    </a:p>
                  </a:txBody>
                  <a:tcPr marL="64008" marR="64008" marT="18288" marB="18288" anchor="ctr">
                    <a:solidFill>
                      <a:srgbClr val="F2F2F2"/>
                    </a:solidFill>
                  </a:tcPr>
                </a:tc>
                <a:tc>
                  <a:txBody>
                    <a:bodyPr wrap="square"/>
                    <a:lstStyle/>
                    <a:p>
                      <a:pPr>
                        <a:lnSpc>
                          <a:spcPct val="95000"/>
                        </a:lnSpc>
                        <a:spcAft>
                          <a:spcPts val="0"/>
                        </a:spcAft>
                      </a:pPr>
                      <a:r>
                        <a:rPr sz="1100" b="1">
                          <a:solidFill>
                            <a:srgbClr val="000000"/>
                          </a:solidFill>
                          <a:latin typeface="Calibri"/>
                        </a:rPr>
                        <a:t>Measured</a:t>
                      </a:r>
                      <a:r>
                        <a:rPr sz="1100" b="0">
                          <a:solidFill>
                            <a:srgbClr val="000000"/>
                          </a:solidFill>
                          <a:latin typeface="Calibri"/>
                        </a:rPr>
                        <a:t> 1.2–1.6 s</a:t>
                      </a:r>
                    </a:p>
                  </a:txBody>
                  <a:tcPr marL="64008" marR="64008" marT="18288" marB="18288" anchor="ctr">
                    <a:solidFill>
                      <a:srgbClr val="F2F2F2"/>
                    </a:solidFill>
                  </a:tcPr>
                </a:tc>
              </a:tr>
              <a:tr h="292608">
                <a:tc>
                  <a:txBody>
                    <a:bodyPr wrap="square"/>
                    <a:lstStyle/>
                    <a:p>
                      <a:pPr>
                        <a:lnSpc>
                          <a:spcPct val="95000"/>
                        </a:lnSpc>
                        <a:spcAft>
                          <a:spcPts val="0"/>
                        </a:spcAft>
                      </a:pPr>
                      <a:r>
                        <a:rPr sz="1100" b="0">
                          <a:solidFill>
                            <a:srgbClr val="000000"/>
                          </a:solidFill>
                          <a:latin typeface="Calibri"/>
                        </a:rPr>
                        <a:t>Routing</a:t>
                      </a:r>
                    </a:p>
                  </a:txBody>
                  <a:tcPr marL="64008" marR="64008" marT="18288" marB="18288" anchor="ctr">
                    <a:solidFill>
                      <a:srgbClr val="FFFFFF"/>
                    </a:solidFill>
                  </a:tcPr>
                </a:tc>
                <a:tc>
                  <a:txBody>
                    <a:bodyPr wrap="square"/>
                    <a:lstStyle/>
                    <a:p>
                      <a:pPr>
                        <a:lnSpc>
                          <a:spcPct val="95000"/>
                        </a:lnSpc>
                        <a:spcAft>
                          <a:spcPts val="0"/>
                        </a:spcAft>
                      </a:pPr>
                      <a:r>
                        <a:rPr sz="1100" b="0">
                          <a:solidFill>
                            <a:srgbClr val="000000"/>
                          </a:solidFill>
                          <a:latin typeface="Calibri"/>
                        </a:rPr>
                        <a:t>Truncated JSON → anchor routing · canned match skips it</a:t>
                      </a:r>
                    </a:p>
                  </a:txBody>
                  <a:tcPr marL="64008" marR="64008" marT="18288" marB="18288" anchor="ctr">
                    <a:solidFill>
                      <a:srgbClr val="FFFFFF"/>
                    </a:solidFill>
                  </a:tcPr>
                </a:tc>
                <a:tc>
                  <a:txBody>
                    <a:bodyPr wrap="square"/>
                    <a:lstStyle/>
                    <a:p>
                      <a:pPr>
                        <a:lnSpc>
                          <a:spcPct val="95000"/>
                        </a:lnSpc>
                        <a:spcAft>
                          <a:spcPts val="0"/>
                        </a:spcAft>
                      </a:pPr>
                      <a:r>
                        <a:rPr sz="1100" b="1">
                          <a:solidFill>
                            <a:srgbClr val="000000"/>
                          </a:solidFill>
                          <a:latin typeface="Calibri"/>
                        </a:rPr>
                        <a:t>[TO CONFIRM]</a:t>
                      </a:r>
                      <a:r>
                        <a:rPr sz="1100" b="0">
                          <a:solidFill>
                            <a:srgbClr val="000000"/>
                          </a:solidFill>
                          <a:latin typeface="Calibri"/>
                        </a:rPr>
                        <a:t> on robot</a:t>
                      </a:r>
                    </a:p>
                  </a:txBody>
                  <a:tcPr marL="64008" marR="64008" marT="18288" marB="18288" anchor="ctr">
                    <a:solidFill>
                      <a:srgbClr val="FFFFFF"/>
                    </a:solidFill>
                  </a:tcPr>
                </a:tc>
              </a:tr>
              <a:tr h="292608">
                <a:tc>
                  <a:txBody>
                    <a:bodyPr wrap="square"/>
                    <a:lstStyle/>
                    <a:p>
                      <a:pPr>
                        <a:lnSpc>
                          <a:spcPct val="95000"/>
                        </a:lnSpc>
                        <a:spcAft>
                          <a:spcPts val="0"/>
                        </a:spcAft>
                      </a:pPr>
                      <a:r>
                        <a:rPr sz="1100" b="0">
                          <a:solidFill>
                            <a:srgbClr val="000000"/>
                          </a:solidFill>
                          <a:latin typeface="Calibri"/>
                        </a:rPr>
                        <a:t>Generating</a:t>
                      </a:r>
                    </a:p>
                  </a:txBody>
                  <a:tcPr marL="64008" marR="64008" marT="18288" marB="18288" anchor="ctr">
                    <a:solidFill>
                      <a:srgbClr val="F2F2F2"/>
                    </a:solidFill>
                  </a:tcPr>
                </a:tc>
                <a:tc>
                  <a:txBody>
                    <a:bodyPr wrap="square"/>
                    <a:lstStyle/>
                    <a:p>
                      <a:pPr>
                        <a:lnSpc>
                          <a:spcPct val="95000"/>
                        </a:lnSpc>
                        <a:spcAft>
                          <a:spcPts val="0"/>
                        </a:spcAft>
                      </a:pPr>
                      <a:r>
                        <a:rPr sz="1100" b="0">
                          <a:solidFill>
                            <a:srgbClr val="000000"/>
                          </a:solidFill>
                          <a:latin typeface="Calibri"/>
                        </a:rPr>
                        <a:t>Filler holds 1.2 s · no credits → in-voice degraded line</a:t>
                      </a:r>
                    </a:p>
                  </a:txBody>
                  <a:tcPr marL="64008" marR="64008" marT="18288" marB="18288" anchor="ctr">
                    <a:solidFill>
                      <a:srgbClr val="F2F2F2"/>
                    </a:solidFill>
                  </a:tcPr>
                </a:tc>
                <a:tc>
                  <a:txBody>
                    <a:bodyPr wrap="square"/>
                    <a:lstStyle/>
                    <a:p>
                      <a:pPr>
                        <a:lnSpc>
                          <a:spcPct val="95000"/>
                        </a:lnSpc>
                        <a:spcAft>
                          <a:spcPts val="0"/>
                        </a:spcAft>
                      </a:pPr>
                      <a:r>
                        <a:rPr sz="1100" b="1">
                          <a:solidFill>
                            <a:srgbClr val="000000"/>
                          </a:solidFill>
                          <a:latin typeface="Calibri"/>
                        </a:rPr>
                        <a:t>[TO CONFIRM]</a:t>
                      </a:r>
                      <a:r>
                        <a:rPr sz="1100" b="0">
                          <a:solidFill>
                            <a:srgbClr val="000000"/>
                          </a:solidFill>
                          <a:latin typeface="Calibri"/>
                        </a:rPr>
                        <a:t> on robot</a:t>
                      </a:r>
                    </a:p>
                  </a:txBody>
                  <a:tcPr marL="64008" marR="64008" marT="18288" marB="18288" anchor="ctr">
                    <a:solidFill>
                      <a:srgbClr val="F2F2F2"/>
                    </a:solidFill>
                  </a:tcPr>
                </a:tc>
              </a:tr>
              <a:tr h="292608">
                <a:tc>
                  <a:txBody>
                    <a:bodyPr wrap="square"/>
                    <a:lstStyle/>
                    <a:p>
                      <a:pPr>
                        <a:lnSpc>
                          <a:spcPct val="95000"/>
                        </a:lnSpc>
                        <a:spcAft>
                          <a:spcPts val="0"/>
                        </a:spcAft>
                      </a:pPr>
                      <a:r>
                        <a:rPr sz="1100" b="0">
                          <a:solidFill>
                            <a:srgbClr val="000000"/>
                          </a:solidFill>
                          <a:latin typeface="Calibri"/>
                        </a:rPr>
                        <a:t>Speaking</a:t>
                      </a:r>
                    </a:p>
                  </a:txBody>
                  <a:tcPr marL="64008" marR="64008" marT="18288" marB="18288" anchor="ctr">
                    <a:solidFill>
                      <a:srgbClr val="FFFFFF"/>
                    </a:solidFill>
                  </a:tcPr>
                </a:tc>
                <a:tc>
                  <a:txBody>
                    <a:bodyPr wrap="square"/>
                    <a:lstStyle/>
                    <a:p>
                      <a:pPr>
                        <a:lnSpc>
                          <a:spcPct val="95000"/>
                        </a:lnSpc>
                        <a:spcAft>
                          <a:spcPts val="0"/>
                        </a:spcAft>
                      </a:pPr>
                      <a:r>
                        <a:rPr sz="1100" b="1">
                          <a:solidFill>
                            <a:srgbClr val="000000"/>
                          </a:solidFill>
                          <a:latin typeface="Calibri"/>
                        </a:rPr>
                        <a:t>Barge-in:</a:t>
                      </a:r>
                      <a:r>
                        <a:rPr sz="1100" b="0">
                          <a:solidFill>
                            <a:srgbClr val="000000"/>
                          </a:solidFill>
                          <a:latin typeface="Calibri"/>
                        </a:rPr>
                        <a:t> wake phrase cuts playback · TTS → OpenAI fallback</a:t>
                      </a:r>
                    </a:p>
                  </a:txBody>
                  <a:tcPr marL="64008" marR="64008" marT="18288" marB="18288" anchor="ctr">
                    <a:solidFill>
                      <a:srgbClr val="FFFFFF"/>
                    </a:solidFill>
                  </a:tcPr>
                </a:tc>
                <a:tc>
                  <a:txBody>
                    <a:bodyPr wrap="square"/>
                    <a:lstStyle/>
                    <a:p>
                      <a:pPr>
                        <a:lnSpc>
                          <a:spcPct val="95000"/>
                        </a:lnSpc>
                        <a:spcAft>
                          <a:spcPts val="0"/>
                        </a:spcAft>
                      </a:pPr>
                      <a:r>
                        <a:rPr sz="1100" b="1">
                          <a:solidFill>
                            <a:srgbClr val="000000"/>
                          </a:solidFill>
                          <a:latin typeface="Calibri"/>
                        </a:rPr>
                        <a:t>Measured</a:t>
                      </a:r>
                      <a:r>
                        <a:rPr sz="1100" b="0">
                          <a:solidFill>
                            <a:srgbClr val="000000"/>
                          </a:solidFill>
                          <a:latin typeface="Calibri"/>
                        </a:rPr>
                        <a:t> first audio 4.9–6.2 s</a:t>
                      </a:r>
                    </a:p>
                  </a:txBody>
                  <a:tcPr marL="64008" marR="64008" marT="18288" marB="18288" anchor="ctr">
                    <a:solidFill>
                      <a:srgbClr val="FFFFFF"/>
                    </a:solidFill>
                  </a:tcPr>
                </a:tc>
              </a:tr>
              <a:tr h="292608">
                <a:tc>
                  <a:txBody>
                    <a:bodyPr wrap="square"/>
                    <a:lstStyle/>
                    <a:p>
                      <a:pPr>
                        <a:lnSpc>
                          <a:spcPct val="95000"/>
                        </a:lnSpc>
                        <a:spcAft>
                          <a:spcPts val="0"/>
                        </a:spcAft>
                      </a:pPr>
                      <a:r>
                        <a:rPr sz="1100" b="0">
                          <a:solidFill>
                            <a:srgbClr val="000000"/>
                          </a:solidFill>
                          <a:latin typeface="Calibri"/>
                        </a:rPr>
                        <a:t>Return to idle</a:t>
                      </a:r>
                    </a:p>
                  </a:txBody>
                  <a:tcPr marL="64008" marR="64008" marT="18288" marB="18288" anchor="ctr">
                    <a:solidFill>
                      <a:srgbClr val="F2F2F2"/>
                    </a:solidFill>
                  </a:tcPr>
                </a:tc>
                <a:tc>
                  <a:txBody>
                    <a:bodyPr wrap="square"/>
                    <a:lstStyle/>
                    <a:p>
                      <a:pPr>
                        <a:lnSpc>
                          <a:spcPct val="95000"/>
                        </a:lnSpc>
                        <a:spcAft>
                          <a:spcPts val="0"/>
                        </a:spcAft>
                      </a:pPr>
                      <a:r>
                        <a:rPr sz="1100" b="0">
                          <a:solidFill>
                            <a:srgbClr val="000000"/>
                          </a:solidFill>
                          <a:latin typeface="Calibri"/>
                        </a:rPr>
                        <a:t>Follow-up window disabled · next question needs a fresh wake</a:t>
                      </a:r>
                    </a:p>
                  </a:txBody>
                  <a:tcPr marL="64008" marR="64008" marT="18288" marB="18288" anchor="ctr">
                    <a:solidFill>
                      <a:srgbClr val="F2F2F2"/>
                    </a:solidFill>
                  </a:tcPr>
                </a:tc>
                <a:tc>
                  <a:txBody>
                    <a:bodyPr wrap="square"/>
                    <a:lstStyle/>
                    <a:p>
                      <a:pPr>
                        <a:lnSpc>
                          <a:spcPct val="95000"/>
                        </a:lnSpc>
                        <a:spcAft>
                          <a:spcPts val="0"/>
                        </a:spcAft>
                      </a:pPr>
                      <a:r>
                        <a:rPr sz="1100" b="1">
                          <a:solidFill>
                            <a:srgbClr val="000000"/>
                          </a:solidFill>
                          <a:latin typeface="Calibri"/>
                        </a:rPr>
                        <a:t>Measured</a:t>
                      </a:r>
                      <a:r>
                        <a:rPr sz="1100" b="0">
                          <a:solidFill>
                            <a:srgbClr val="000000"/>
                          </a:solidFill>
                          <a:latin typeface="Calibri"/>
                        </a:rPr>
                        <a:t> immediate</a:t>
                      </a:r>
                    </a:p>
                  </a:txBody>
                  <a:tcPr marL="64008" marR="64008" marT="18288" marB="18288" anchor="ctr">
                    <a:solidFill>
                      <a:srgbClr val="F2F2F2"/>
                    </a:solidFill>
                  </a:tcPr>
                </a:tc>
              </a:tr>
            </a:tbl>
          </a:graphicData>
        </a:graphic>
      </p:graphicFrame>
      <p:sp>
        <p:nvSpPr>
          <p:cNvPr id="7" name="TextBox 6"/>
          <p:cNvSpPr txBox="1"/>
          <p:nvPr/>
        </p:nvSpPr>
        <p:spPr>
          <a:xfrm>
            <a:off x="502920" y="6455664"/>
            <a:ext cx="8229600" cy="274320"/>
          </a:xfrm>
          <a:prstGeom prst="rect">
            <a:avLst/>
          </a:prstGeom>
          <a:noFill/>
        </p:spPr>
        <p:txBody>
          <a:bodyPr wrap="square" lIns="27432" rIns="27432" tIns="0" bIns="0">
            <a:spAutoFit/>
          </a:bodyPr>
          <a:lstStyle/>
          <a:p>
            <a:pPr algn="l">
              <a:lnSpc>
                <a:spcPct val="100000"/>
              </a:lnSpc>
              <a:spcAft>
                <a:spcPts val="400"/>
              </a:spcAft>
            </a:pPr>
            <a:r>
              <a:rPr sz="850" b="0">
                <a:solidFill>
                  <a:srgbClr val="808080"/>
                </a:solidFill>
                <a:latin typeface="Calibri"/>
              </a:rPr>
              <a:t>Supervaise Inc. — CJAP handover · repo pi/deployment-snapshots @ 2545882 (2026-08-31)</a:t>
            </a:r>
          </a:p>
        </p:txBody>
      </p:sp>
      <p:sp>
        <p:nvSpPr>
          <p:cNvPr id="8" name="TextBox 7"/>
          <p:cNvSpPr txBox="1"/>
          <p:nvPr/>
        </p:nvSpPr>
        <p:spPr>
          <a:xfrm>
            <a:off x="11064240" y="6455664"/>
            <a:ext cx="685800" cy="274320"/>
          </a:xfrm>
          <a:prstGeom prst="rect">
            <a:avLst/>
          </a:prstGeom>
          <a:noFill/>
        </p:spPr>
        <p:txBody>
          <a:bodyPr wrap="square" lIns="27432" rIns="27432" tIns="0" bIns="0">
            <a:spAutoFit/>
          </a:bodyPr>
          <a:lstStyle/>
          <a:p>
            <a:pPr algn="r">
              <a:lnSpc>
                <a:spcPct val="100000"/>
              </a:lnSpc>
              <a:spcAft>
                <a:spcPts val="400"/>
              </a:spcAft>
            </a:pPr>
            <a:r>
              <a:rPr sz="900" b="0">
                <a:solidFill>
                  <a:srgbClr val="80808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02920" y="164592"/>
            <a:ext cx="10424160" cy="457200"/>
          </a:xfrm>
          <a:prstGeom prst="rect">
            <a:avLst/>
          </a:prstGeom>
          <a:noFill/>
        </p:spPr>
        <p:txBody>
          <a:bodyPr wrap="square" lIns="27432" rIns="27432" tIns="0" bIns="0">
            <a:spAutoFit/>
          </a:bodyPr>
          <a:lstStyle/>
          <a:p>
            <a:pPr algn="l">
              <a:lnSpc>
                <a:spcPct val="100000"/>
              </a:lnSpc>
              <a:spcAft>
                <a:spcPts val="400"/>
              </a:spcAft>
            </a:pPr>
            <a:r>
              <a:rPr sz="2700" b="1">
                <a:solidFill>
                  <a:srgbClr val="FFFFFF"/>
                </a:solidFill>
                <a:latin typeface="Calibri"/>
              </a:rPr>
              <a:t>Untethered runtime</a:t>
            </a:r>
          </a:p>
        </p:txBody>
      </p:sp>
      <p:sp>
        <p:nvSpPr>
          <p:cNvPr id="4" name="TextBox 3"/>
          <p:cNvSpPr txBox="1"/>
          <p:nvPr/>
        </p:nvSpPr>
        <p:spPr>
          <a:xfrm>
            <a:off x="502920" y="566928"/>
            <a:ext cx="10424160" cy="274320"/>
          </a:xfrm>
          <a:prstGeom prst="rect">
            <a:avLst/>
          </a:prstGeom>
          <a:noFill/>
        </p:spPr>
        <p:txBody>
          <a:bodyPr wrap="square" lIns="27432" rIns="27432" tIns="0" bIns="0">
            <a:spAutoFit/>
          </a:bodyPr>
          <a:lstStyle/>
          <a:p>
            <a:pPr algn="l">
              <a:lnSpc>
                <a:spcPct val="100000"/>
              </a:lnSpc>
              <a:spcAft>
                <a:spcPts val="400"/>
              </a:spcAft>
            </a:pPr>
            <a:r>
              <a:rPr sz="1150" b="0">
                <a:solidFill>
                  <a:srgbClr val="C8E6C8"/>
                </a:solidFill>
                <a:latin typeface="Calibri"/>
              </a:rPr>
              <a:t>The honest gap</a:t>
            </a:r>
          </a:p>
        </p:txBody>
      </p:sp>
      <p:sp>
        <p:nvSpPr>
          <p:cNvPr id="5" name="Rectangle 4"/>
          <p:cNvSpPr/>
          <p:nvPr/>
        </p:nvSpPr>
        <p:spPr>
          <a:xfrm>
            <a:off x="0" y="841248"/>
            <a:ext cx="12191695" cy="41148"/>
          </a:xfrm>
          <a:prstGeom prst="rect">
            <a:avLst/>
          </a:prstGeom>
          <a:solidFill>
            <a:srgbClr val="00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640080" y="1371600"/>
            <a:ext cx="10881360" cy="2103120"/>
          </a:xfrm>
          <a:prstGeom prst="rect">
            <a:avLst/>
          </a:prstGeom>
          <a:solidFill>
            <a:srgbClr val="FDE9E9"/>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lnSpc>
                <a:spcPct val="102000"/>
              </a:lnSpc>
              <a:spcAft>
                <a:spcPts val="500"/>
              </a:spcAft>
            </a:pPr>
            <a:r>
              <a:rPr sz="1700" b="1">
                <a:solidFill>
                  <a:srgbClr val="000000"/>
                </a:solidFill>
                <a:latin typeface="Calibri"/>
              </a:rPr>
              <a:t>[TO CONFIRM: untethered runtime never measured — requires a timed discharge test | owner: hardware]</a:t>
            </a:r>
          </a:p>
          <a:p>
            <a:pPr>
              <a:lnSpc>
                <a:spcPct val="102000"/>
              </a:lnSpc>
              <a:spcAft>
                <a:spcPts val="500"/>
              </a:spcAft>
            </a:pPr>
          </a:p>
          <a:p>
            <a:pPr>
              <a:lnSpc>
                <a:spcPct val="102000"/>
              </a:lnSpc>
              <a:spcAft>
                <a:spcPts val="500"/>
              </a:spcAft>
            </a:pPr>
            <a:r>
              <a:rPr sz="1700" b="0">
                <a:solidFill>
                  <a:srgbClr val="000000"/>
                </a:solidFill>
                <a:latin typeface="Calibri"/>
              </a:rPr>
              <a:t>No battery or power figure exists here.</a:t>
            </a:r>
          </a:p>
        </p:txBody>
      </p:sp>
      <p:sp>
        <p:nvSpPr>
          <p:cNvPr id="7" name="TextBox 6"/>
          <p:cNvSpPr txBox="1"/>
          <p:nvPr/>
        </p:nvSpPr>
        <p:spPr>
          <a:xfrm>
            <a:off x="822960" y="3931920"/>
            <a:ext cx="10424160" cy="1828800"/>
          </a:xfrm>
          <a:prstGeom prst="rect">
            <a:avLst/>
          </a:prstGeom>
          <a:noFill/>
        </p:spPr>
        <p:txBody>
          <a:bodyPr wrap="square" lIns="0" rIns="0" tIns="0" bIns="0">
            <a:spAutoFit/>
          </a:bodyPr>
          <a:lstStyle/>
          <a:p>
            <a:pPr>
              <a:lnSpc>
                <a:spcPct val="102000"/>
              </a:lnSpc>
              <a:spcAft>
                <a:spcPts val="2600"/>
              </a:spcAft>
            </a:pPr>
            <a:r>
              <a:rPr sz="1900">
                <a:solidFill>
                  <a:srgbClr val="00CC00"/>
                </a:solidFill>
                <a:latin typeface="Calibri"/>
              </a:rPr>
              <a:t>▪  </a:t>
            </a:r>
            <a:r>
              <a:rPr sz="1900" b="1">
                <a:solidFill>
                  <a:srgbClr val="000000"/>
                </a:solidFill>
                <a:latin typeface="Calibri"/>
              </a:rPr>
              <a:t>Repository search found nothing</a:t>
            </a:r>
          </a:p>
          <a:p>
            <a:pPr>
              <a:lnSpc>
                <a:spcPct val="102000"/>
              </a:lnSpc>
              <a:spcAft>
                <a:spcPts val="2600"/>
              </a:spcAft>
            </a:pPr>
            <a:r>
              <a:rPr sz="1900">
                <a:solidFill>
                  <a:srgbClr val="00CC00"/>
                </a:solidFill>
                <a:latin typeface="Calibri"/>
              </a:rPr>
              <a:t>▪  </a:t>
            </a:r>
            <a:r>
              <a:rPr sz="1900" b="1">
                <a:solidFill>
                  <a:srgbClr val="000000"/>
                </a:solidFill>
                <a:latin typeface="Calibri"/>
              </a:rPr>
              <a:t>To close it:</a:t>
            </a:r>
            <a:r>
              <a:rPr sz="1900" b="0">
                <a:solidFill>
                  <a:srgbClr val="000000"/>
                </a:solidFill>
                <a:latin typeface="Calibri"/>
              </a:rPr>
              <a:t> one timed discharge, one timed recharge</a:t>
            </a:r>
          </a:p>
        </p:txBody>
      </p:sp>
      <p:sp>
        <p:nvSpPr>
          <p:cNvPr id="8" name="TextBox 7"/>
          <p:cNvSpPr txBox="1"/>
          <p:nvPr/>
        </p:nvSpPr>
        <p:spPr>
          <a:xfrm>
            <a:off x="502920" y="6455664"/>
            <a:ext cx="8229600" cy="274320"/>
          </a:xfrm>
          <a:prstGeom prst="rect">
            <a:avLst/>
          </a:prstGeom>
          <a:noFill/>
        </p:spPr>
        <p:txBody>
          <a:bodyPr wrap="square" lIns="27432" rIns="27432" tIns="0" bIns="0">
            <a:spAutoFit/>
          </a:bodyPr>
          <a:lstStyle/>
          <a:p>
            <a:pPr algn="l">
              <a:lnSpc>
                <a:spcPct val="100000"/>
              </a:lnSpc>
              <a:spcAft>
                <a:spcPts val="400"/>
              </a:spcAft>
            </a:pPr>
            <a:r>
              <a:rPr sz="850" b="0">
                <a:solidFill>
                  <a:srgbClr val="808080"/>
                </a:solidFill>
                <a:latin typeface="Calibri"/>
              </a:rPr>
              <a:t>Supervaise Inc. — CJAP handover · repo pi/deployment-snapshots @ 2545882 (2026-08-31)</a:t>
            </a:r>
          </a:p>
        </p:txBody>
      </p:sp>
      <p:sp>
        <p:nvSpPr>
          <p:cNvPr id="9" name="TextBox 8"/>
          <p:cNvSpPr txBox="1"/>
          <p:nvPr/>
        </p:nvSpPr>
        <p:spPr>
          <a:xfrm>
            <a:off x="11064240" y="6455664"/>
            <a:ext cx="685800" cy="274320"/>
          </a:xfrm>
          <a:prstGeom prst="rect">
            <a:avLst/>
          </a:prstGeom>
          <a:noFill/>
        </p:spPr>
        <p:txBody>
          <a:bodyPr wrap="square" lIns="27432" rIns="27432" tIns="0" bIns="0">
            <a:spAutoFit/>
          </a:bodyPr>
          <a:lstStyle/>
          <a:p>
            <a:pPr algn="r">
              <a:lnSpc>
                <a:spcPct val="100000"/>
              </a:lnSpc>
              <a:spcAft>
                <a:spcPts val="400"/>
              </a:spcAft>
            </a:pPr>
            <a:r>
              <a:rPr sz="900" b="0">
                <a:solidFill>
                  <a:srgbClr val="80808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02920" y="164592"/>
            <a:ext cx="10424160" cy="457200"/>
          </a:xfrm>
          <a:prstGeom prst="rect">
            <a:avLst/>
          </a:prstGeom>
          <a:noFill/>
        </p:spPr>
        <p:txBody>
          <a:bodyPr wrap="square" lIns="27432" rIns="27432" tIns="0" bIns="0">
            <a:spAutoFit/>
          </a:bodyPr>
          <a:lstStyle/>
          <a:p>
            <a:pPr algn="l">
              <a:lnSpc>
                <a:spcPct val="100000"/>
              </a:lnSpc>
              <a:spcAft>
                <a:spcPts val="400"/>
              </a:spcAft>
            </a:pPr>
            <a:r>
              <a:rPr sz="2700" b="1">
                <a:solidFill>
                  <a:srgbClr val="FFFFFF"/>
                </a:solidFill>
                <a:latin typeface="Calibri"/>
              </a:rPr>
              <a:t>Cost model</a:t>
            </a:r>
          </a:p>
        </p:txBody>
      </p:sp>
      <p:sp>
        <p:nvSpPr>
          <p:cNvPr id="4" name="TextBox 3"/>
          <p:cNvSpPr txBox="1"/>
          <p:nvPr/>
        </p:nvSpPr>
        <p:spPr>
          <a:xfrm>
            <a:off x="502920" y="566928"/>
            <a:ext cx="10424160" cy="274320"/>
          </a:xfrm>
          <a:prstGeom prst="rect">
            <a:avLst/>
          </a:prstGeom>
          <a:noFill/>
        </p:spPr>
        <p:txBody>
          <a:bodyPr wrap="square" lIns="27432" rIns="27432" tIns="0" bIns="0">
            <a:spAutoFit/>
          </a:bodyPr>
          <a:lstStyle/>
          <a:p>
            <a:pPr algn="l">
              <a:lnSpc>
                <a:spcPct val="100000"/>
              </a:lnSpc>
              <a:spcAft>
                <a:spcPts val="400"/>
              </a:spcAft>
            </a:pPr>
            <a:r>
              <a:rPr sz="1150" b="0">
                <a:solidFill>
                  <a:srgbClr val="C8E6C8"/>
                </a:solidFill>
                <a:latin typeface="Calibri"/>
              </a:rPr>
              <a:t>Per turn, and at volume</a:t>
            </a:r>
          </a:p>
        </p:txBody>
      </p:sp>
      <p:sp>
        <p:nvSpPr>
          <p:cNvPr id="5" name="Rectangle 4"/>
          <p:cNvSpPr/>
          <p:nvPr/>
        </p:nvSpPr>
        <p:spPr>
          <a:xfrm>
            <a:off x="0" y="841248"/>
            <a:ext cx="12191695" cy="41148"/>
          </a:xfrm>
          <a:prstGeom prst="rect">
            <a:avLst/>
          </a:prstGeom>
          <a:solidFill>
            <a:srgbClr val="00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graphicFrame>
        <p:nvGraphicFramePr>
          <p:cNvPr id="6" name="Table 5"/>
          <p:cNvGraphicFramePr>
            <a:graphicFrameLocks noGrp="1"/>
          </p:cNvGraphicFramePr>
          <p:nvPr/>
        </p:nvGraphicFramePr>
        <p:xfrm>
          <a:off x="502920" y="1143000"/>
          <a:ext cx="5943600" cy="2084832"/>
        </p:xfrm>
        <a:graphic>
          <a:graphicData uri="http://schemas.openxmlformats.org/drawingml/2006/table">
            <a:tbl>
              <a:tblPr firstRow="1" bandRow="1">
                <a:tableStyleId>{5C22544A-7EE6-4342-B048-85BDC9FD1C3A}</a:tableStyleId>
              </a:tblPr>
              <a:tblGrid>
                <a:gridCol w="2377440"/>
                <a:gridCol w="1828800"/>
                <a:gridCol w="1737360"/>
              </a:tblGrid>
              <a:tr h="329184">
                <a:tc>
                  <a:txBody>
                    <a:bodyPr wrap="square"/>
                    <a:lstStyle/>
                    <a:p>
                      <a:pPr>
                        <a:lnSpc>
                          <a:spcPct val="95000"/>
                        </a:lnSpc>
                        <a:spcAft>
                          <a:spcPts val="0"/>
                        </a:spcAft>
                      </a:pPr>
                      <a:r>
                        <a:rPr sz="1200" b="1">
                          <a:solidFill>
                            <a:srgbClr val="FFFFFF"/>
                          </a:solidFill>
                          <a:latin typeface="Calibri"/>
                        </a:rPr>
                        <a:t>Stage</a:t>
                      </a:r>
                    </a:p>
                  </a:txBody>
                  <a:tcPr marL="64008" marR="64008" marT="18288" marB="18288" anchor="ctr">
                    <a:solidFill>
                      <a:srgbClr val="2D2D2D"/>
                    </a:solidFill>
                  </a:tcPr>
                </a:tc>
                <a:tc>
                  <a:txBody>
                    <a:bodyPr wrap="square"/>
                    <a:lstStyle/>
                    <a:p>
                      <a:pPr>
                        <a:lnSpc>
                          <a:spcPct val="95000"/>
                        </a:lnSpc>
                        <a:spcAft>
                          <a:spcPts val="0"/>
                        </a:spcAft>
                      </a:pPr>
                      <a:r>
                        <a:rPr sz="1200" b="1">
                          <a:solidFill>
                            <a:srgbClr val="FFFFFF"/>
                          </a:solidFill>
                          <a:latin typeface="Calibri"/>
                        </a:rPr>
                        <a:t>Cost per turn</a:t>
                      </a:r>
                    </a:p>
                  </a:txBody>
                  <a:tcPr marL="64008" marR="64008" marT="18288" marB="18288" anchor="ctr">
                    <a:solidFill>
                      <a:srgbClr val="2D2D2D"/>
                    </a:solidFill>
                  </a:tcPr>
                </a:tc>
                <a:tc>
                  <a:txBody>
                    <a:bodyPr wrap="square"/>
                    <a:lstStyle/>
                    <a:p>
                      <a:pPr>
                        <a:lnSpc>
                          <a:spcPct val="95000"/>
                        </a:lnSpc>
                        <a:spcAft>
                          <a:spcPts val="0"/>
                        </a:spcAft>
                      </a:pPr>
                      <a:r>
                        <a:rPr sz="1200" b="1">
                          <a:solidFill>
                            <a:srgbClr val="FFFFFF"/>
                          </a:solidFill>
                          <a:latin typeface="Calibri"/>
                        </a:rPr>
                        <a:t>Basis</a:t>
                      </a:r>
                    </a:p>
                  </a:txBody>
                  <a:tcPr marL="64008" marR="64008" marT="18288" marB="18288" anchor="ctr">
                    <a:solidFill>
                      <a:srgbClr val="2D2D2D"/>
                    </a:solidFill>
                  </a:tcPr>
                </a:tc>
              </a:tr>
              <a:tr h="292608">
                <a:tc>
                  <a:txBody>
                    <a:bodyPr wrap="square"/>
                    <a:lstStyle/>
                    <a:p>
                      <a:pPr>
                        <a:lnSpc>
                          <a:spcPct val="95000"/>
                        </a:lnSpc>
                        <a:spcAft>
                          <a:spcPts val="0"/>
                        </a:spcAft>
                      </a:pPr>
                      <a:r>
                        <a:rPr sz="1200" b="0">
                          <a:solidFill>
                            <a:srgbClr val="000000"/>
                          </a:solidFill>
                          <a:latin typeface="Calibri"/>
                        </a:rPr>
                        <a:t>Router (Haiku)</a:t>
                      </a:r>
                    </a:p>
                  </a:txBody>
                  <a:tcPr marL="64008" marR="64008" marT="18288" marB="18288" anchor="ctr">
                    <a:solidFill>
                      <a:srgbClr val="FFFFFF"/>
                    </a:solidFill>
                  </a:tcPr>
                </a:tc>
                <a:tc>
                  <a:txBody>
                    <a:bodyPr wrap="square"/>
                    <a:lstStyle/>
                    <a:p>
                      <a:pPr>
                        <a:lnSpc>
                          <a:spcPct val="95000"/>
                        </a:lnSpc>
                        <a:spcAft>
                          <a:spcPts val="0"/>
                        </a:spcAft>
                      </a:pPr>
                      <a:r>
                        <a:rPr sz="1200" b="0">
                          <a:solidFill>
                            <a:srgbClr val="000000"/>
                          </a:solidFill>
                          <a:latin typeface="Calibri"/>
                        </a:rPr>
                        <a:t>≈$0.001</a:t>
                      </a:r>
                    </a:p>
                  </a:txBody>
                  <a:tcPr marL="64008" marR="64008" marT="18288" marB="18288" anchor="ctr">
                    <a:solidFill>
                      <a:srgbClr val="FFFFFF"/>
                    </a:solidFill>
                  </a:tcPr>
                </a:tc>
                <a:tc>
                  <a:txBody>
                    <a:bodyPr wrap="square"/>
                    <a:lstStyle/>
                    <a:p>
                      <a:pPr>
                        <a:lnSpc>
                          <a:spcPct val="95000"/>
                        </a:lnSpc>
                        <a:spcAft>
                          <a:spcPts val="0"/>
                        </a:spcAft>
                      </a:pPr>
                      <a:r>
                        <a:rPr sz="1200" b="1">
                          <a:solidFill>
                            <a:srgbClr val="000000"/>
                          </a:solidFill>
                          <a:latin typeface="Calibri"/>
                        </a:rPr>
                        <a:t>Derived</a:t>
                      </a:r>
                    </a:p>
                  </a:txBody>
                  <a:tcPr marL="64008" marR="64008" marT="18288" marB="18288" anchor="ctr">
                    <a:solidFill>
                      <a:srgbClr val="FFFFFF"/>
                    </a:solidFill>
                  </a:tcPr>
                </a:tc>
              </a:tr>
              <a:tr h="292608">
                <a:tc>
                  <a:txBody>
                    <a:bodyPr wrap="square"/>
                    <a:lstStyle/>
                    <a:p>
                      <a:pPr>
                        <a:lnSpc>
                          <a:spcPct val="95000"/>
                        </a:lnSpc>
                        <a:spcAft>
                          <a:spcPts val="0"/>
                        </a:spcAft>
                      </a:pPr>
                      <a:r>
                        <a:rPr sz="1200" b="0">
                          <a:solidFill>
                            <a:srgbClr val="000000"/>
                          </a:solidFill>
                          <a:latin typeface="Calibri"/>
                        </a:rPr>
                        <a:t>Inference (Sonnet)</a:t>
                      </a:r>
                    </a:p>
                  </a:txBody>
                  <a:tcPr marL="64008" marR="64008" marT="18288" marB="18288" anchor="ctr">
                    <a:solidFill>
                      <a:srgbClr val="F2F2F2"/>
                    </a:solidFill>
                  </a:tcPr>
                </a:tc>
                <a:tc>
                  <a:txBody>
                    <a:bodyPr wrap="square"/>
                    <a:lstStyle/>
                    <a:p>
                      <a:pPr>
                        <a:lnSpc>
                          <a:spcPct val="95000"/>
                        </a:lnSpc>
                        <a:spcAft>
                          <a:spcPts val="0"/>
                        </a:spcAft>
                      </a:pPr>
                      <a:r>
                        <a:rPr sz="1200" b="0">
                          <a:solidFill>
                            <a:srgbClr val="000000"/>
                          </a:solidFill>
                          <a:latin typeface="Calibri"/>
                        </a:rPr>
                        <a:t>≈$0.023</a:t>
                      </a:r>
                    </a:p>
                  </a:txBody>
                  <a:tcPr marL="64008" marR="64008" marT="18288" marB="18288" anchor="ctr">
                    <a:solidFill>
                      <a:srgbClr val="F2F2F2"/>
                    </a:solidFill>
                  </a:tcPr>
                </a:tc>
                <a:tc>
                  <a:txBody>
                    <a:bodyPr wrap="square"/>
                    <a:lstStyle/>
                    <a:p>
                      <a:pPr>
                        <a:lnSpc>
                          <a:spcPct val="95000"/>
                        </a:lnSpc>
                        <a:spcAft>
                          <a:spcPts val="0"/>
                        </a:spcAft>
                      </a:pPr>
                      <a:r>
                        <a:rPr sz="1200" b="1">
                          <a:solidFill>
                            <a:srgbClr val="000000"/>
                          </a:solidFill>
                          <a:latin typeface="Calibri"/>
                        </a:rPr>
                        <a:t>Derived</a:t>
                      </a:r>
                    </a:p>
                  </a:txBody>
                  <a:tcPr marL="64008" marR="64008" marT="18288" marB="18288" anchor="ctr">
                    <a:solidFill>
                      <a:srgbClr val="F2F2F2"/>
                    </a:solidFill>
                  </a:tcPr>
                </a:tc>
              </a:tr>
              <a:tr h="292608">
                <a:tc>
                  <a:txBody>
                    <a:bodyPr wrap="square"/>
                    <a:lstStyle/>
                    <a:p>
                      <a:pPr>
                        <a:lnSpc>
                          <a:spcPct val="95000"/>
                        </a:lnSpc>
                        <a:spcAft>
                          <a:spcPts val="0"/>
                        </a:spcAft>
                      </a:pPr>
                      <a:r>
                        <a:rPr sz="1200" b="0">
                          <a:solidFill>
                            <a:srgbClr val="000000"/>
                          </a:solidFill>
                          <a:latin typeface="Calibri"/>
                        </a:rPr>
                        <a:t>Filler + audit (Haiku)</a:t>
                      </a:r>
                    </a:p>
                  </a:txBody>
                  <a:tcPr marL="64008" marR="64008" marT="18288" marB="18288" anchor="ctr">
                    <a:solidFill>
                      <a:srgbClr val="FFFFFF"/>
                    </a:solidFill>
                  </a:tcPr>
                </a:tc>
                <a:tc>
                  <a:txBody>
                    <a:bodyPr wrap="square"/>
                    <a:lstStyle/>
                    <a:p>
                      <a:pPr>
                        <a:lnSpc>
                          <a:spcPct val="95000"/>
                        </a:lnSpc>
                        <a:spcAft>
                          <a:spcPts val="0"/>
                        </a:spcAft>
                      </a:pPr>
                      <a:r>
                        <a:rPr sz="1200" b="0">
                          <a:solidFill>
                            <a:srgbClr val="000000"/>
                          </a:solidFill>
                          <a:latin typeface="Calibri"/>
                        </a:rPr>
                        <a:t>≈$0.002</a:t>
                      </a:r>
                    </a:p>
                  </a:txBody>
                  <a:tcPr marL="64008" marR="64008" marT="18288" marB="18288" anchor="ctr">
                    <a:solidFill>
                      <a:srgbClr val="FFFFFF"/>
                    </a:solidFill>
                  </a:tcPr>
                </a:tc>
                <a:tc>
                  <a:txBody>
                    <a:bodyPr wrap="square"/>
                    <a:lstStyle/>
                    <a:p>
                      <a:pPr>
                        <a:lnSpc>
                          <a:spcPct val="95000"/>
                        </a:lnSpc>
                        <a:spcAft>
                          <a:spcPts val="0"/>
                        </a:spcAft>
                      </a:pPr>
                      <a:r>
                        <a:rPr sz="1200" b="1">
                          <a:solidFill>
                            <a:srgbClr val="000000"/>
                          </a:solidFill>
                          <a:latin typeface="Calibri"/>
                        </a:rPr>
                        <a:t>Measured</a:t>
                      </a:r>
                    </a:p>
                  </a:txBody>
                  <a:tcPr marL="64008" marR="64008" marT="18288" marB="18288" anchor="ctr">
                    <a:solidFill>
                      <a:srgbClr val="FFFFFF"/>
                    </a:solidFill>
                  </a:tcPr>
                </a:tc>
              </a:tr>
              <a:tr h="292608">
                <a:tc>
                  <a:txBody>
                    <a:bodyPr wrap="square"/>
                    <a:lstStyle/>
                    <a:p>
                      <a:pPr>
                        <a:lnSpc>
                          <a:spcPct val="95000"/>
                        </a:lnSpc>
                        <a:spcAft>
                          <a:spcPts val="0"/>
                        </a:spcAft>
                      </a:pPr>
                      <a:r>
                        <a:rPr sz="1200" b="0">
                          <a:solidFill>
                            <a:srgbClr val="000000"/>
                          </a:solidFill>
                          <a:latin typeface="Calibri"/>
                        </a:rPr>
                        <a:t>STT (OpenAI)</a:t>
                      </a:r>
                    </a:p>
                  </a:txBody>
                  <a:tcPr marL="64008" marR="64008" marT="18288" marB="18288" anchor="ctr">
                    <a:solidFill>
                      <a:srgbClr val="F2F2F2"/>
                    </a:solidFill>
                  </a:tcPr>
                </a:tc>
                <a:tc>
                  <a:txBody>
                    <a:bodyPr wrap="square"/>
                    <a:lstStyle/>
                    <a:p>
                      <a:pPr>
                        <a:lnSpc>
                          <a:spcPct val="95000"/>
                        </a:lnSpc>
                        <a:spcAft>
                          <a:spcPts val="0"/>
                        </a:spcAft>
                      </a:pPr>
                      <a:r>
                        <a:rPr sz="1200" b="1">
                          <a:solidFill>
                            <a:srgbClr val="000000"/>
                          </a:solidFill>
                          <a:latin typeface="Calibri"/>
                        </a:rPr>
                        <a:t>[TO CONFIRM]</a:t>
                      </a:r>
                    </a:p>
                  </a:txBody>
                  <a:tcPr marL="64008" marR="64008" marT="18288" marB="18288" anchor="ctr">
                    <a:solidFill>
                      <a:srgbClr val="F2F2F2"/>
                    </a:solidFill>
                  </a:tcPr>
                </a:tc>
                <a:tc>
                  <a:txBody>
                    <a:bodyPr wrap="square"/>
                    <a:lstStyle/>
                    <a:p>
                      <a:pPr>
                        <a:lnSpc>
                          <a:spcPct val="95000"/>
                        </a:lnSpc>
                        <a:spcAft>
                          <a:spcPts val="0"/>
                        </a:spcAft>
                      </a:pPr>
                      <a:r>
                        <a:rPr sz="1200" b="0">
                          <a:solidFill>
                            <a:srgbClr val="000000"/>
                          </a:solidFill>
                          <a:latin typeface="Calibri"/>
                        </a:rPr>
                        <a:t>metered, never priced</a:t>
                      </a:r>
                    </a:p>
                  </a:txBody>
                  <a:tcPr marL="64008" marR="64008" marT="18288" marB="18288" anchor="ctr">
                    <a:solidFill>
                      <a:srgbClr val="F2F2F2"/>
                    </a:solidFill>
                  </a:tcPr>
                </a:tc>
              </a:tr>
              <a:tr h="292608">
                <a:tc>
                  <a:txBody>
                    <a:bodyPr wrap="square"/>
                    <a:lstStyle/>
                    <a:p>
                      <a:pPr>
                        <a:lnSpc>
                          <a:spcPct val="95000"/>
                        </a:lnSpc>
                        <a:spcAft>
                          <a:spcPts val="0"/>
                        </a:spcAft>
                      </a:pPr>
                      <a:r>
                        <a:rPr sz="1200" b="0">
                          <a:solidFill>
                            <a:srgbClr val="000000"/>
                          </a:solidFill>
                          <a:latin typeface="Calibri"/>
                        </a:rPr>
                        <a:t>TTS (ElevenLabs)</a:t>
                      </a:r>
                    </a:p>
                  </a:txBody>
                  <a:tcPr marL="64008" marR="64008" marT="18288" marB="18288" anchor="ctr">
                    <a:solidFill>
                      <a:srgbClr val="FFFFFF"/>
                    </a:solidFill>
                  </a:tcPr>
                </a:tc>
                <a:tc>
                  <a:txBody>
                    <a:bodyPr wrap="square"/>
                    <a:lstStyle/>
                    <a:p>
                      <a:pPr>
                        <a:lnSpc>
                          <a:spcPct val="95000"/>
                        </a:lnSpc>
                        <a:spcAft>
                          <a:spcPts val="0"/>
                        </a:spcAft>
                      </a:pPr>
                      <a:r>
                        <a:rPr sz="1200" b="1">
                          <a:solidFill>
                            <a:srgbClr val="000000"/>
                          </a:solidFill>
                          <a:latin typeface="Calibri"/>
                        </a:rPr>
                        <a:t>[TO CONFIRM]</a:t>
                      </a:r>
                    </a:p>
                  </a:txBody>
                  <a:tcPr marL="64008" marR="64008" marT="18288" marB="18288" anchor="ctr">
                    <a:solidFill>
                      <a:srgbClr val="FFFFFF"/>
                    </a:solidFill>
                  </a:tcPr>
                </a:tc>
                <a:tc>
                  <a:txBody>
                    <a:bodyPr wrap="square"/>
                    <a:lstStyle/>
                    <a:p>
                      <a:pPr>
                        <a:lnSpc>
                          <a:spcPct val="95000"/>
                        </a:lnSpc>
                        <a:spcAft>
                          <a:spcPts val="0"/>
                        </a:spcAft>
                      </a:pPr>
                      <a:r>
                        <a:rPr sz="1200" b="0">
                          <a:solidFill>
                            <a:srgbClr val="000000"/>
                          </a:solidFill>
                          <a:latin typeface="Calibri"/>
                        </a:rPr>
                        <a:t>300–450 credits/answer</a:t>
                      </a:r>
                    </a:p>
                  </a:txBody>
                  <a:tcPr marL="64008" marR="64008" marT="18288" marB="18288" anchor="ctr">
                    <a:solidFill>
                      <a:srgbClr val="FFFFFF"/>
                    </a:solidFill>
                  </a:tcPr>
                </a:tc>
              </a:tr>
              <a:tr h="292608">
                <a:tc>
                  <a:txBody>
                    <a:bodyPr wrap="square"/>
                    <a:lstStyle/>
                    <a:p>
                      <a:pPr>
                        <a:lnSpc>
                          <a:spcPct val="95000"/>
                        </a:lnSpc>
                        <a:spcAft>
                          <a:spcPts val="0"/>
                        </a:spcAft>
                      </a:pPr>
                      <a:r>
                        <a:rPr sz="1200" b="1">
                          <a:solidFill>
                            <a:srgbClr val="000000"/>
                          </a:solidFill>
                          <a:latin typeface="Calibri"/>
                        </a:rPr>
                        <a:t>Anthropic total</a:t>
                      </a:r>
                    </a:p>
                  </a:txBody>
                  <a:tcPr marL="64008" marR="64008" marT="18288" marB="18288" anchor="ctr">
                    <a:solidFill>
                      <a:srgbClr val="F2F2F2"/>
                    </a:solidFill>
                  </a:tcPr>
                </a:tc>
                <a:tc>
                  <a:txBody>
                    <a:bodyPr wrap="square"/>
                    <a:lstStyle/>
                    <a:p>
                      <a:pPr>
                        <a:lnSpc>
                          <a:spcPct val="95000"/>
                        </a:lnSpc>
                        <a:spcAft>
                          <a:spcPts val="0"/>
                        </a:spcAft>
                      </a:pPr>
                      <a:r>
                        <a:rPr sz="1200" b="1">
                          <a:solidFill>
                            <a:srgbClr val="000000"/>
                          </a:solidFill>
                          <a:latin typeface="Calibri"/>
                        </a:rPr>
                        <a:t>≈$0.025</a:t>
                      </a:r>
                    </a:p>
                  </a:txBody>
                  <a:tcPr marL="64008" marR="64008" marT="18288" marB="18288" anchor="ctr">
                    <a:solidFill>
                      <a:srgbClr val="F2F2F2"/>
                    </a:solidFill>
                  </a:tcPr>
                </a:tc>
                <a:tc>
                  <a:txBody>
                    <a:bodyPr wrap="square"/>
                    <a:lstStyle/>
                    <a:p>
                      <a:pPr>
                        <a:lnSpc>
                          <a:spcPct val="95000"/>
                        </a:lnSpc>
                        <a:spcAft>
                          <a:spcPts val="0"/>
                        </a:spcAft>
                      </a:pPr>
                      <a:r>
                        <a:rPr sz="1200" b="0">
                          <a:solidFill>
                            <a:srgbClr val="000000"/>
                          </a:solidFill>
                          <a:latin typeface="Calibri"/>
                        </a:rPr>
                        <a:t>vs </a:t>
                      </a:r>
                      <a:r>
                        <a:rPr sz="1200" b="1">
                          <a:solidFill>
                            <a:srgbClr val="000000"/>
                          </a:solidFill>
                          <a:latin typeface="Calibri"/>
                        </a:rPr>
                        <a:t>Target</a:t>
                      </a:r>
                      <a:r>
                        <a:rPr sz="1200" b="0">
                          <a:solidFill>
                            <a:srgbClr val="000000"/>
                          </a:solidFill>
                          <a:latin typeface="Calibri"/>
                        </a:rPr>
                        <a:t> ≤$0.02</a:t>
                      </a:r>
                    </a:p>
                  </a:txBody>
                  <a:tcPr marL="64008" marR="64008" marT="18288" marB="18288" anchor="ctr">
                    <a:solidFill>
                      <a:srgbClr val="F2F2F2"/>
                    </a:solidFill>
                  </a:tcPr>
                </a:tc>
              </a:tr>
            </a:tbl>
          </a:graphicData>
        </a:graphic>
      </p:graphicFrame>
      <p:graphicFrame>
        <p:nvGraphicFramePr>
          <p:cNvPr id="7" name="Table 6"/>
          <p:cNvGraphicFramePr>
            <a:graphicFrameLocks noGrp="1"/>
          </p:cNvGraphicFramePr>
          <p:nvPr/>
        </p:nvGraphicFramePr>
        <p:xfrm>
          <a:off x="6720840" y="1143000"/>
          <a:ext cx="4937757" cy="914400"/>
        </p:xfrm>
        <a:graphic>
          <a:graphicData uri="http://schemas.openxmlformats.org/drawingml/2006/table">
            <a:tbl>
              <a:tblPr firstRow="1" bandRow="1">
                <a:tableStyleId>{5C22544A-7EE6-4342-B048-85BDC9FD1C3A}</a:tableStyleId>
              </a:tblPr>
              <a:tblGrid>
                <a:gridCol w="1828799"/>
                <a:gridCol w="1005839"/>
                <a:gridCol w="1005839"/>
                <a:gridCol w="1097280"/>
              </a:tblGrid>
              <a:tr h="329184">
                <a:tc>
                  <a:txBody>
                    <a:bodyPr wrap="square"/>
                    <a:lstStyle/>
                    <a:p>
                      <a:pPr>
                        <a:lnSpc>
                          <a:spcPct val="95000"/>
                        </a:lnSpc>
                        <a:spcAft>
                          <a:spcPts val="0"/>
                        </a:spcAft>
                      </a:pPr>
                      <a:r>
                        <a:rPr sz="1100" b="1">
                          <a:solidFill>
                            <a:srgbClr val="FFFFFF"/>
                          </a:solidFill>
                          <a:latin typeface="Calibri"/>
                        </a:rPr>
                        <a:t>Turns / month</a:t>
                      </a:r>
                    </a:p>
                  </a:txBody>
                  <a:tcPr marL="64008" marR="64008" marT="18288" marB="18288" anchor="ctr">
                    <a:solidFill>
                      <a:srgbClr val="2D2D2D"/>
                    </a:solidFill>
                  </a:tcPr>
                </a:tc>
                <a:tc>
                  <a:txBody>
                    <a:bodyPr wrap="square"/>
                    <a:lstStyle/>
                    <a:p>
                      <a:pPr>
                        <a:lnSpc>
                          <a:spcPct val="95000"/>
                        </a:lnSpc>
                        <a:spcAft>
                          <a:spcPts val="0"/>
                        </a:spcAft>
                      </a:pPr>
                      <a:r>
                        <a:rPr sz="1100" b="1">
                          <a:solidFill>
                            <a:srgbClr val="FFFFFF"/>
                          </a:solidFill>
                          <a:latin typeface="Calibri"/>
                        </a:rPr>
                        <a:t>100</a:t>
                      </a:r>
                    </a:p>
                  </a:txBody>
                  <a:tcPr marL="64008" marR="64008" marT="18288" marB="18288" anchor="ctr">
                    <a:solidFill>
                      <a:srgbClr val="2D2D2D"/>
                    </a:solidFill>
                  </a:tcPr>
                </a:tc>
                <a:tc>
                  <a:txBody>
                    <a:bodyPr wrap="square"/>
                    <a:lstStyle/>
                    <a:p>
                      <a:pPr>
                        <a:lnSpc>
                          <a:spcPct val="95000"/>
                        </a:lnSpc>
                        <a:spcAft>
                          <a:spcPts val="0"/>
                        </a:spcAft>
                      </a:pPr>
                      <a:r>
                        <a:rPr sz="1100" b="1">
                          <a:solidFill>
                            <a:srgbClr val="FFFFFF"/>
                          </a:solidFill>
                          <a:latin typeface="Calibri"/>
                        </a:rPr>
                        <a:t>1,000</a:t>
                      </a:r>
                    </a:p>
                  </a:txBody>
                  <a:tcPr marL="64008" marR="64008" marT="18288" marB="18288" anchor="ctr">
                    <a:solidFill>
                      <a:srgbClr val="2D2D2D"/>
                    </a:solidFill>
                  </a:tcPr>
                </a:tc>
                <a:tc>
                  <a:txBody>
                    <a:bodyPr wrap="square"/>
                    <a:lstStyle/>
                    <a:p>
                      <a:pPr>
                        <a:lnSpc>
                          <a:spcPct val="95000"/>
                        </a:lnSpc>
                        <a:spcAft>
                          <a:spcPts val="0"/>
                        </a:spcAft>
                      </a:pPr>
                      <a:r>
                        <a:rPr sz="1100" b="1">
                          <a:solidFill>
                            <a:srgbClr val="FFFFFF"/>
                          </a:solidFill>
                          <a:latin typeface="Calibri"/>
                        </a:rPr>
                        <a:t>10,000</a:t>
                      </a:r>
                    </a:p>
                  </a:txBody>
                  <a:tcPr marL="64008" marR="64008" marT="18288" marB="18288" anchor="ctr">
                    <a:solidFill>
                      <a:srgbClr val="2D2D2D"/>
                    </a:solidFill>
                  </a:tcPr>
                </a:tc>
              </a:tr>
              <a:tr h="292608">
                <a:tc>
                  <a:txBody>
                    <a:bodyPr wrap="square"/>
                    <a:lstStyle/>
                    <a:p>
                      <a:pPr>
                        <a:lnSpc>
                          <a:spcPct val="95000"/>
                        </a:lnSpc>
                        <a:spcAft>
                          <a:spcPts val="0"/>
                        </a:spcAft>
                      </a:pPr>
                      <a:r>
                        <a:rPr sz="1100" b="0">
                          <a:solidFill>
                            <a:srgbClr val="000000"/>
                          </a:solidFill>
                          <a:latin typeface="Calibri"/>
                        </a:rPr>
                        <a:t>Anthropic only</a:t>
                      </a:r>
                    </a:p>
                  </a:txBody>
                  <a:tcPr marL="64008" marR="64008" marT="18288" marB="18288" anchor="ctr">
                    <a:solidFill>
                      <a:srgbClr val="FFFFFF"/>
                    </a:solidFill>
                  </a:tcPr>
                </a:tc>
                <a:tc>
                  <a:txBody>
                    <a:bodyPr wrap="square"/>
                    <a:lstStyle/>
                    <a:p>
                      <a:pPr>
                        <a:lnSpc>
                          <a:spcPct val="95000"/>
                        </a:lnSpc>
                        <a:spcAft>
                          <a:spcPts val="0"/>
                        </a:spcAft>
                      </a:pPr>
                      <a:r>
                        <a:rPr sz="1100" b="0">
                          <a:solidFill>
                            <a:srgbClr val="000000"/>
                          </a:solidFill>
                          <a:latin typeface="Calibri"/>
                        </a:rPr>
                        <a:t>≈$2.50</a:t>
                      </a:r>
                    </a:p>
                  </a:txBody>
                  <a:tcPr marL="64008" marR="64008" marT="18288" marB="18288" anchor="ctr">
                    <a:solidFill>
                      <a:srgbClr val="FFFFFF"/>
                    </a:solidFill>
                  </a:tcPr>
                </a:tc>
                <a:tc>
                  <a:txBody>
                    <a:bodyPr wrap="square"/>
                    <a:lstStyle/>
                    <a:p>
                      <a:pPr>
                        <a:lnSpc>
                          <a:spcPct val="95000"/>
                        </a:lnSpc>
                        <a:spcAft>
                          <a:spcPts val="0"/>
                        </a:spcAft>
                      </a:pPr>
                      <a:r>
                        <a:rPr sz="1100" b="0">
                          <a:solidFill>
                            <a:srgbClr val="000000"/>
                          </a:solidFill>
                          <a:latin typeface="Calibri"/>
                        </a:rPr>
                        <a:t>≈$25</a:t>
                      </a:r>
                    </a:p>
                  </a:txBody>
                  <a:tcPr marL="64008" marR="64008" marT="18288" marB="18288" anchor="ctr">
                    <a:solidFill>
                      <a:srgbClr val="FFFFFF"/>
                    </a:solidFill>
                  </a:tcPr>
                </a:tc>
                <a:tc>
                  <a:txBody>
                    <a:bodyPr wrap="square"/>
                    <a:lstStyle/>
                    <a:p>
                      <a:pPr>
                        <a:lnSpc>
                          <a:spcPct val="95000"/>
                        </a:lnSpc>
                        <a:spcAft>
                          <a:spcPts val="0"/>
                        </a:spcAft>
                      </a:pPr>
                      <a:r>
                        <a:rPr sz="1100" b="0">
                          <a:solidFill>
                            <a:srgbClr val="000000"/>
                          </a:solidFill>
                          <a:latin typeface="Calibri"/>
                        </a:rPr>
                        <a:t>≈$250</a:t>
                      </a:r>
                    </a:p>
                  </a:txBody>
                  <a:tcPr marL="64008" marR="64008" marT="18288" marB="18288" anchor="ctr">
                    <a:solidFill>
                      <a:srgbClr val="FFFFFF"/>
                    </a:solidFill>
                  </a:tcPr>
                </a:tc>
              </a:tr>
              <a:tr h="292608">
                <a:tc>
                  <a:txBody>
                    <a:bodyPr wrap="square"/>
                    <a:lstStyle/>
                    <a:p>
                      <a:pPr>
                        <a:lnSpc>
                          <a:spcPct val="95000"/>
                        </a:lnSpc>
                        <a:spcAft>
                          <a:spcPts val="0"/>
                        </a:spcAft>
                      </a:pPr>
                      <a:r>
                        <a:rPr sz="1100" b="0">
                          <a:solidFill>
                            <a:srgbClr val="000000"/>
                          </a:solidFill>
                          <a:latin typeface="Calibri"/>
                        </a:rPr>
                        <a:t>Blended</a:t>
                      </a:r>
                    </a:p>
                  </a:txBody>
                  <a:tcPr marL="64008" marR="64008" marT="18288" marB="18288" anchor="ctr">
                    <a:solidFill>
                      <a:srgbClr val="F2F2F2"/>
                    </a:solidFill>
                  </a:tcPr>
                </a:tc>
                <a:tc>
                  <a:txBody>
                    <a:bodyPr wrap="square"/>
                    <a:lstStyle/>
                    <a:p>
                      <a:pPr>
                        <a:lnSpc>
                          <a:spcPct val="95000"/>
                        </a:lnSpc>
                        <a:spcAft>
                          <a:spcPts val="0"/>
                        </a:spcAft>
                      </a:pPr>
                      <a:r>
                        <a:rPr sz="1100" b="1">
                          <a:solidFill>
                            <a:srgbClr val="000000"/>
                          </a:solidFill>
                          <a:latin typeface="Calibri"/>
                        </a:rPr>
                        <a:t>[TO CONFIRM]</a:t>
                      </a:r>
                    </a:p>
                  </a:txBody>
                  <a:tcPr marL="64008" marR="64008" marT="18288" marB="18288" anchor="ctr">
                    <a:solidFill>
                      <a:srgbClr val="F2F2F2"/>
                    </a:solidFill>
                  </a:tcPr>
                </a:tc>
                <a:tc>
                  <a:txBody>
                    <a:bodyPr wrap="square"/>
                    <a:lstStyle/>
                    <a:p>
                      <a:pPr>
                        <a:lnSpc>
                          <a:spcPct val="95000"/>
                        </a:lnSpc>
                        <a:spcAft>
                          <a:spcPts val="0"/>
                        </a:spcAft>
                      </a:pPr>
                      <a:r>
                        <a:rPr sz="1100" b="1">
                          <a:solidFill>
                            <a:srgbClr val="000000"/>
                          </a:solidFill>
                          <a:latin typeface="Calibri"/>
                        </a:rPr>
                        <a:t>[TO CONFIRM]</a:t>
                      </a:r>
                    </a:p>
                  </a:txBody>
                  <a:tcPr marL="64008" marR="64008" marT="18288" marB="18288" anchor="ctr">
                    <a:solidFill>
                      <a:srgbClr val="F2F2F2"/>
                    </a:solidFill>
                  </a:tcPr>
                </a:tc>
                <a:tc>
                  <a:txBody>
                    <a:bodyPr wrap="square"/>
                    <a:lstStyle/>
                    <a:p>
                      <a:pPr>
                        <a:lnSpc>
                          <a:spcPct val="95000"/>
                        </a:lnSpc>
                        <a:spcAft>
                          <a:spcPts val="0"/>
                        </a:spcAft>
                      </a:pPr>
                      <a:r>
                        <a:rPr sz="1100" b="1">
                          <a:solidFill>
                            <a:srgbClr val="000000"/>
                          </a:solidFill>
                          <a:latin typeface="Calibri"/>
                        </a:rPr>
                        <a:t>[TO CONFIRM]</a:t>
                      </a:r>
                    </a:p>
                  </a:txBody>
                  <a:tcPr marL="64008" marR="64008" marT="18288" marB="18288" anchor="ctr">
                    <a:solidFill>
                      <a:srgbClr val="F2F2F2"/>
                    </a:solidFill>
                  </a:tcPr>
                </a:tc>
              </a:tr>
            </a:tbl>
          </a:graphicData>
        </a:graphic>
      </p:graphicFrame>
      <p:sp>
        <p:nvSpPr>
          <p:cNvPr id="8" name="Rectangle 7"/>
          <p:cNvSpPr/>
          <p:nvPr/>
        </p:nvSpPr>
        <p:spPr>
          <a:xfrm>
            <a:off x="6720840" y="3429000"/>
            <a:ext cx="4937760" cy="2103120"/>
          </a:xfrm>
          <a:prstGeom prst="rect">
            <a:avLst/>
          </a:prstGeom>
          <a:solidFill>
            <a:srgbClr val="FFF4CC"/>
          </a:solidFill>
          <a:ln w="158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lnSpc>
                <a:spcPct val="102000"/>
              </a:lnSpc>
              <a:spcAft>
                <a:spcPts val="500"/>
              </a:spcAft>
            </a:pPr>
            <a:r>
              <a:rPr sz="1500" b="1">
                <a:solidFill>
                  <a:srgbClr val="000000"/>
                </a:solidFill>
                <a:latin typeface="Calibri"/>
              </a:rPr>
              <a:t>Do not quote a total turn cost yet.</a:t>
            </a:r>
          </a:p>
          <a:p>
            <a:pPr>
              <a:lnSpc>
                <a:spcPct val="102000"/>
              </a:lnSpc>
              <a:spcAft>
                <a:spcPts val="500"/>
              </a:spcAft>
            </a:pPr>
            <a:r>
              <a:rPr sz="1500" b="0">
                <a:solidFill>
                  <a:srgbClr val="000000"/>
                </a:solidFill>
                <a:latin typeface="Calibri"/>
              </a:rPr>
              <a:t>Only Anthropic is priced. Repeat questions are </a:t>
            </a:r>
            <a:r>
              <a:rPr sz="1500" b="1">
                <a:solidFill>
                  <a:srgbClr val="000000"/>
                </a:solidFill>
                <a:latin typeface="Calibri"/>
              </a:rPr>
              <a:t>free</a:t>
            </a:r>
            <a:r>
              <a:rPr sz="1500" b="0">
                <a:solidFill>
                  <a:srgbClr val="000000"/>
                </a:solidFill>
                <a:latin typeface="Calibri"/>
              </a:rPr>
              <a:t> — audio is cached locally.</a:t>
            </a:r>
          </a:p>
        </p:txBody>
      </p:sp>
      <p:sp>
        <p:nvSpPr>
          <p:cNvPr id="9" name="TextBox 8"/>
          <p:cNvSpPr txBox="1"/>
          <p:nvPr/>
        </p:nvSpPr>
        <p:spPr>
          <a:xfrm>
            <a:off x="502920" y="6455664"/>
            <a:ext cx="8229600" cy="274320"/>
          </a:xfrm>
          <a:prstGeom prst="rect">
            <a:avLst/>
          </a:prstGeom>
          <a:noFill/>
        </p:spPr>
        <p:txBody>
          <a:bodyPr wrap="square" lIns="27432" rIns="27432" tIns="0" bIns="0">
            <a:spAutoFit/>
          </a:bodyPr>
          <a:lstStyle/>
          <a:p>
            <a:pPr algn="l">
              <a:lnSpc>
                <a:spcPct val="100000"/>
              </a:lnSpc>
              <a:spcAft>
                <a:spcPts val="400"/>
              </a:spcAft>
            </a:pPr>
            <a:r>
              <a:rPr sz="850" b="0">
                <a:solidFill>
                  <a:srgbClr val="808080"/>
                </a:solidFill>
                <a:latin typeface="Calibri"/>
              </a:rPr>
              <a:t>Supervaise Inc. — CJAP handover · repo pi/deployment-snapshots @ 2545882 (2026-08-31)</a:t>
            </a:r>
          </a:p>
        </p:txBody>
      </p:sp>
      <p:sp>
        <p:nvSpPr>
          <p:cNvPr id="10" name="TextBox 9"/>
          <p:cNvSpPr txBox="1"/>
          <p:nvPr/>
        </p:nvSpPr>
        <p:spPr>
          <a:xfrm>
            <a:off x="11064240" y="6455664"/>
            <a:ext cx="685800" cy="274320"/>
          </a:xfrm>
          <a:prstGeom prst="rect">
            <a:avLst/>
          </a:prstGeom>
          <a:noFill/>
        </p:spPr>
        <p:txBody>
          <a:bodyPr wrap="square" lIns="27432" rIns="27432" tIns="0" bIns="0">
            <a:spAutoFit/>
          </a:bodyPr>
          <a:lstStyle/>
          <a:p>
            <a:pPr algn="r">
              <a:lnSpc>
                <a:spcPct val="100000"/>
              </a:lnSpc>
              <a:spcAft>
                <a:spcPts val="400"/>
              </a:spcAft>
            </a:pPr>
            <a:r>
              <a:rPr sz="900" b="0">
                <a:solidFill>
                  <a:srgbClr val="80808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02920" y="164592"/>
            <a:ext cx="10424160" cy="457200"/>
          </a:xfrm>
          <a:prstGeom prst="rect">
            <a:avLst/>
          </a:prstGeom>
          <a:noFill/>
        </p:spPr>
        <p:txBody>
          <a:bodyPr wrap="square" lIns="27432" rIns="27432" tIns="0" bIns="0">
            <a:spAutoFit/>
          </a:bodyPr>
          <a:lstStyle/>
          <a:p>
            <a:pPr algn="l">
              <a:lnSpc>
                <a:spcPct val="100000"/>
              </a:lnSpc>
              <a:spcAft>
                <a:spcPts val="400"/>
              </a:spcAft>
            </a:pPr>
            <a:r>
              <a:rPr sz="2700" b="1">
                <a:solidFill>
                  <a:srgbClr val="FFFFFF"/>
                </a:solidFill>
                <a:latin typeface="Calibri"/>
              </a:rPr>
              <a:t>Performance</a:t>
            </a:r>
          </a:p>
        </p:txBody>
      </p:sp>
      <p:sp>
        <p:nvSpPr>
          <p:cNvPr id="4" name="TextBox 3"/>
          <p:cNvSpPr txBox="1"/>
          <p:nvPr/>
        </p:nvSpPr>
        <p:spPr>
          <a:xfrm>
            <a:off x="502920" y="566928"/>
            <a:ext cx="10424160" cy="274320"/>
          </a:xfrm>
          <a:prstGeom prst="rect">
            <a:avLst/>
          </a:prstGeom>
          <a:noFill/>
        </p:spPr>
        <p:txBody>
          <a:bodyPr wrap="square" lIns="27432" rIns="27432" tIns="0" bIns="0">
            <a:spAutoFit/>
          </a:bodyPr>
          <a:lstStyle/>
          <a:p>
            <a:pPr algn="l">
              <a:lnSpc>
                <a:spcPct val="100000"/>
              </a:lnSpc>
              <a:spcAft>
                <a:spcPts val="400"/>
              </a:spcAft>
            </a:pPr>
            <a:r>
              <a:rPr sz="1150" b="0">
                <a:solidFill>
                  <a:srgbClr val="C8E6C8"/>
                </a:solidFill>
                <a:latin typeface="Calibri"/>
              </a:rPr>
              <a:t>Target versus measured — and what was never measured</a:t>
            </a:r>
          </a:p>
        </p:txBody>
      </p:sp>
      <p:sp>
        <p:nvSpPr>
          <p:cNvPr id="5" name="Rectangle 4"/>
          <p:cNvSpPr/>
          <p:nvPr/>
        </p:nvSpPr>
        <p:spPr>
          <a:xfrm>
            <a:off x="0" y="841248"/>
            <a:ext cx="12191695" cy="41148"/>
          </a:xfrm>
          <a:prstGeom prst="rect">
            <a:avLst/>
          </a:prstGeom>
          <a:solidFill>
            <a:srgbClr val="00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graphicFrame>
        <p:nvGraphicFramePr>
          <p:cNvPr id="6" name="Table 5"/>
          <p:cNvGraphicFramePr>
            <a:graphicFrameLocks noGrp="1"/>
          </p:cNvGraphicFramePr>
          <p:nvPr/>
        </p:nvGraphicFramePr>
        <p:xfrm>
          <a:off x="502920" y="1143000"/>
          <a:ext cx="11155678" cy="2084832"/>
        </p:xfrm>
        <a:graphic>
          <a:graphicData uri="http://schemas.openxmlformats.org/drawingml/2006/table">
            <a:tbl>
              <a:tblPr firstRow="1" bandRow="1">
                <a:tableStyleId>{5C22544A-7EE6-4342-B048-85BDC9FD1C3A}</a:tableStyleId>
              </a:tblPr>
              <a:tblGrid>
                <a:gridCol w="3647049"/>
                <a:gridCol w="1930790"/>
                <a:gridCol w="3861581"/>
                <a:gridCol w="1716258"/>
              </a:tblGrid>
              <a:tr h="329184">
                <a:tc>
                  <a:txBody>
                    <a:bodyPr wrap="square"/>
                    <a:lstStyle/>
                    <a:p>
                      <a:pPr>
                        <a:lnSpc>
                          <a:spcPct val="95000"/>
                        </a:lnSpc>
                        <a:spcAft>
                          <a:spcPts val="0"/>
                        </a:spcAft>
                      </a:pPr>
                      <a:r>
                        <a:rPr sz="1250" b="1">
                          <a:solidFill>
                            <a:srgbClr val="FFFFFF"/>
                          </a:solidFill>
                          <a:latin typeface="Calibri"/>
                        </a:rPr>
                        <a:t>Metric</a:t>
                      </a:r>
                    </a:p>
                  </a:txBody>
                  <a:tcPr marL="64008" marR="64008" marT="18288" marB="18288" anchor="ctr">
                    <a:solidFill>
                      <a:srgbClr val="2D2D2D"/>
                    </a:solidFill>
                  </a:tcPr>
                </a:tc>
                <a:tc>
                  <a:txBody>
                    <a:bodyPr wrap="square"/>
                    <a:lstStyle/>
                    <a:p>
                      <a:pPr>
                        <a:lnSpc>
                          <a:spcPct val="95000"/>
                        </a:lnSpc>
                        <a:spcAft>
                          <a:spcPts val="0"/>
                        </a:spcAft>
                      </a:pPr>
                      <a:r>
                        <a:rPr sz="1250" b="1">
                          <a:solidFill>
                            <a:srgbClr val="FFFFFF"/>
                          </a:solidFill>
                          <a:latin typeface="Calibri"/>
                        </a:rPr>
                        <a:t>Target</a:t>
                      </a:r>
                    </a:p>
                  </a:txBody>
                  <a:tcPr marL="64008" marR="64008" marT="18288" marB="18288" anchor="ctr">
                    <a:solidFill>
                      <a:srgbClr val="2D2D2D"/>
                    </a:solidFill>
                  </a:tcPr>
                </a:tc>
                <a:tc>
                  <a:txBody>
                    <a:bodyPr wrap="square"/>
                    <a:lstStyle/>
                    <a:p>
                      <a:pPr>
                        <a:lnSpc>
                          <a:spcPct val="95000"/>
                        </a:lnSpc>
                        <a:spcAft>
                          <a:spcPts val="0"/>
                        </a:spcAft>
                      </a:pPr>
                      <a:r>
                        <a:rPr sz="1250" b="1">
                          <a:solidFill>
                            <a:srgbClr val="FFFFFF"/>
                          </a:solidFill>
                          <a:latin typeface="Calibri"/>
                        </a:rPr>
                        <a:t>Measured</a:t>
                      </a:r>
                    </a:p>
                  </a:txBody>
                  <a:tcPr marL="64008" marR="64008" marT="18288" marB="18288" anchor="ctr">
                    <a:solidFill>
                      <a:srgbClr val="2D2D2D"/>
                    </a:solidFill>
                  </a:tcPr>
                </a:tc>
                <a:tc>
                  <a:txBody>
                    <a:bodyPr wrap="square"/>
                    <a:lstStyle/>
                    <a:p>
                      <a:pPr>
                        <a:lnSpc>
                          <a:spcPct val="95000"/>
                        </a:lnSpc>
                        <a:spcAft>
                          <a:spcPts val="0"/>
                        </a:spcAft>
                      </a:pPr>
                      <a:r>
                        <a:rPr sz="1250" b="1">
                          <a:solidFill>
                            <a:srgbClr val="FFFFFF"/>
                          </a:solidFill>
                          <a:latin typeface="Calibri"/>
                        </a:rPr>
                        <a:t>Verdict</a:t>
                      </a:r>
                    </a:p>
                  </a:txBody>
                  <a:tcPr marL="64008" marR="64008" marT="18288" marB="18288" anchor="ctr">
                    <a:solidFill>
                      <a:srgbClr val="2D2D2D"/>
                    </a:solidFill>
                  </a:tcPr>
                </a:tc>
              </a:tr>
              <a:tr h="292608">
                <a:tc>
                  <a:txBody>
                    <a:bodyPr wrap="square"/>
                    <a:lstStyle/>
                    <a:p>
                      <a:pPr>
                        <a:lnSpc>
                          <a:spcPct val="95000"/>
                        </a:lnSpc>
                        <a:spcAft>
                          <a:spcPts val="0"/>
                        </a:spcAft>
                      </a:pPr>
                      <a:r>
                        <a:rPr sz="1250" b="0">
                          <a:solidFill>
                            <a:srgbClr val="000000"/>
                          </a:solidFill>
                          <a:latin typeface="Calibri"/>
                        </a:rPr>
                        <a:t>Router accuracy</a:t>
                      </a:r>
                    </a:p>
                  </a:txBody>
                  <a:tcPr marL="64008" marR="64008" marT="18288" marB="18288" anchor="ctr">
                    <a:solidFill>
                      <a:srgbClr val="FFFFFF"/>
                    </a:solidFill>
                  </a:tcPr>
                </a:tc>
                <a:tc>
                  <a:txBody>
                    <a:bodyPr wrap="square"/>
                    <a:lstStyle/>
                    <a:p>
                      <a:pPr>
                        <a:lnSpc>
                          <a:spcPct val="95000"/>
                        </a:lnSpc>
                        <a:spcAft>
                          <a:spcPts val="0"/>
                        </a:spcAft>
                      </a:pPr>
                      <a:r>
                        <a:rPr sz="1250" b="0">
                          <a:solidFill>
                            <a:srgbClr val="000000"/>
                          </a:solidFill>
                          <a:latin typeface="Calibri"/>
                        </a:rPr>
                        <a:t>≥85%</a:t>
                      </a:r>
                    </a:p>
                  </a:txBody>
                  <a:tcPr marL="64008" marR="64008" marT="18288" marB="18288" anchor="ctr">
                    <a:solidFill>
                      <a:srgbClr val="FFFFFF"/>
                    </a:solidFill>
                  </a:tcPr>
                </a:tc>
                <a:tc>
                  <a:txBody>
                    <a:bodyPr wrap="square"/>
                    <a:lstStyle/>
                    <a:p>
                      <a:pPr>
                        <a:lnSpc>
                          <a:spcPct val="95000"/>
                        </a:lnSpc>
                        <a:spcAft>
                          <a:spcPts val="0"/>
                        </a:spcAft>
                      </a:pPr>
                      <a:r>
                        <a:rPr sz="1250" b="1">
                          <a:solidFill>
                            <a:srgbClr val="000000"/>
                          </a:solidFill>
                          <a:latin typeface="Calibri"/>
                        </a:rPr>
                        <a:t>96.7%</a:t>
                      </a:r>
                    </a:p>
                  </a:txBody>
                  <a:tcPr marL="64008" marR="64008" marT="18288" marB="18288" anchor="ctr">
                    <a:solidFill>
                      <a:srgbClr val="FFFFFF"/>
                    </a:solidFill>
                  </a:tcPr>
                </a:tc>
                <a:tc>
                  <a:txBody>
                    <a:bodyPr wrap="square"/>
                    <a:lstStyle/>
                    <a:p>
                      <a:pPr>
                        <a:lnSpc>
                          <a:spcPct val="95000"/>
                        </a:lnSpc>
                        <a:spcAft>
                          <a:spcPts val="0"/>
                        </a:spcAft>
                      </a:pPr>
                      <a:r>
                        <a:rPr sz="1250" b="1">
                          <a:solidFill>
                            <a:srgbClr val="000000"/>
                          </a:solidFill>
                          <a:latin typeface="Calibri"/>
                        </a:rPr>
                        <a:t>Met</a:t>
                      </a:r>
                    </a:p>
                  </a:txBody>
                  <a:tcPr marL="64008" marR="64008" marT="18288" marB="18288" anchor="ctr">
                    <a:solidFill>
                      <a:srgbClr val="FFFFFF"/>
                    </a:solidFill>
                  </a:tcPr>
                </a:tc>
              </a:tr>
              <a:tr h="292608">
                <a:tc>
                  <a:txBody>
                    <a:bodyPr wrap="square"/>
                    <a:lstStyle/>
                    <a:p>
                      <a:pPr>
                        <a:lnSpc>
                          <a:spcPct val="95000"/>
                        </a:lnSpc>
                        <a:spcAft>
                          <a:spcPts val="0"/>
                        </a:spcAft>
                      </a:pPr>
                      <a:r>
                        <a:rPr sz="1250" b="0">
                          <a:solidFill>
                            <a:srgbClr val="000000"/>
                          </a:solidFill>
                          <a:latin typeface="Calibri"/>
                        </a:rPr>
                        <a:t>Fabricated citations</a:t>
                      </a:r>
                    </a:p>
                  </a:txBody>
                  <a:tcPr marL="64008" marR="64008" marT="18288" marB="18288" anchor="ctr">
                    <a:solidFill>
                      <a:srgbClr val="F2F2F2"/>
                    </a:solidFill>
                  </a:tcPr>
                </a:tc>
                <a:tc>
                  <a:txBody>
                    <a:bodyPr wrap="square"/>
                    <a:lstStyle/>
                    <a:p>
                      <a:pPr>
                        <a:lnSpc>
                          <a:spcPct val="95000"/>
                        </a:lnSpc>
                        <a:spcAft>
                          <a:spcPts val="0"/>
                        </a:spcAft>
                      </a:pPr>
                      <a:r>
                        <a:rPr sz="1250" b="0">
                          <a:solidFill>
                            <a:srgbClr val="000000"/>
                          </a:solidFill>
                          <a:latin typeface="Calibri"/>
                        </a:rPr>
                        <a:t>0</a:t>
                      </a:r>
                    </a:p>
                  </a:txBody>
                  <a:tcPr marL="64008" marR="64008" marT="18288" marB="18288" anchor="ctr">
                    <a:solidFill>
                      <a:srgbClr val="F2F2F2"/>
                    </a:solidFill>
                  </a:tcPr>
                </a:tc>
                <a:tc>
                  <a:txBody>
                    <a:bodyPr wrap="square"/>
                    <a:lstStyle/>
                    <a:p>
                      <a:pPr>
                        <a:lnSpc>
                          <a:spcPct val="95000"/>
                        </a:lnSpc>
                        <a:spcAft>
                          <a:spcPts val="0"/>
                        </a:spcAft>
                      </a:pPr>
                      <a:r>
                        <a:rPr sz="1250" b="1">
                          <a:solidFill>
                            <a:srgbClr val="000000"/>
                          </a:solidFill>
                          <a:latin typeface="Calibri"/>
                        </a:rPr>
                        <a:t>0</a:t>
                      </a:r>
                      <a:r>
                        <a:rPr sz="1250" b="0">
                          <a:solidFill>
                            <a:srgbClr val="000000"/>
                          </a:solidFill>
                          <a:latin typeface="Calibri"/>
                        </a:rPr>
                        <a:t> across all graded runs</a:t>
                      </a:r>
                    </a:p>
                  </a:txBody>
                  <a:tcPr marL="64008" marR="64008" marT="18288" marB="18288" anchor="ctr">
                    <a:solidFill>
                      <a:srgbClr val="F2F2F2"/>
                    </a:solidFill>
                  </a:tcPr>
                </a:tc>
                <a:tc>
                  <a:txBody>
                    <a:bodyPr wrap="square"/>
                    <a:lstStyle/>
                    <a:p>
                      <a:pPr>
                        <a:lnSpc>
                          <a:spcPct val="95000"/>
                        </a:lnSpc>
                        <a:spcAft>
                          <a:spcPts val="0"/>
                        </a:spcAft>
                      </a:pPr>
                      <a:r>
                        <a:rPr sz="1250" b="1">
                          <a:solidFill>
                            <a:srgbClr val="000000"/>
                          </a:solidFill>
                          <a:latin typeface="Calibri"/>
                        </a:rPr>
                        <a:t>Met</a:t>
                      </a:r>
                    </a:p>
                  </a:txBody>
                  <a:tcPr marL="64008" marR="64008" marT="18288" marB="18288" anchor="ctr">
                    <a:solidFill>
                      <a:srgbClr val="F2F2F2"/>
                    </a:solidFill>
                  </a:tcPr>
                </a:tc>
              </a:tr>
              <a:tr h="292608">
                <a:tc>
                  <a:txBody>
                    <a:bodyPr wrap="square"/>
                    <a:lstStyle/>
                    <a:p>
                      <a:pPr>
                        <a:lnSpc>
                          <a:spcPct val="95000"/>
                        </a:lnSpc>
                        <a:spcAft>
                          <a:spcPts val="0"/>
                        </a:spcAft>
                      </a:pPr>
                      <a:r>
                        <a:rPr sz="1250" b="0">
                          <a:solidFill>
                            <a:srgbClr val="000000"/>
                          </a:solidFill>
                          <a:latin typeface="Calibri"/>
                        </a:rPr>
                        <a:t>End-to-end to first audio</a:t>
                      </a:r>
                    </a:p>
                  </a:txBody>
                  <a:tcPr marL="64008" marR="64008" marT="18288" marB="18288" anchor="ctr">
                    <a:solidFill>
                      <a:srgbClr val="FFFFFF"/>
                    </a:solidFill>
                  </a:tcPr>
                </a:tc>
                <a:tc>
                  <a:txBody>
                    <a:bodyPr wrap="square"/>
                    <a:lstStyle/>
                    <a:p>
                      <a:pPr>
                        <a:lnSpc>
                          <a:spcPct val="95000"/>
                        </a:lnSpc>
                        <a:spcAft>
                          <a:spcPts val="0"/>
                        </a:spcAft>
                      </a:pPr>
                      <a:r>
                        <a:rPr sz="1250" b="0">
                          <a:solidFill>
                            <a:srgbClr val="000000"/>
                          </a:solidFill>
                          <a:latin typeface="Calibri"/>
                        </a:rPr>
                        <a:t>≤4 s</a:t>
                      </a:r>
                    </a:p>
                  </a:txBody>
                  <a:tcPr marL="64008" marR="64008" marT="18288" marB="18288" anchor="ctr">
                    <a:solidFill>
                      <a:srgbClr val="FFFFFF"/>
                    </a:solidFill>
                  </a:tcPr>
                </a:tc>
                <a:tc>
                  <a:txBody>
                    <a:bodyPr wrap="square"/>
                    <a:lstStyle/>
                    <a:p>
                      <a:pPr>
                        <a:lnSpc>
                          <a:spcPct val="95000"/>
                        </a:lnSpc>
                        <a:spcAft>
                          <a:spcPts val="0"/>
                        </a:spcAft>
                      </a:pPr>
                      <a:r>
                        <a:rPr sz="1250" b="1">
                          <a:solidFill>
                            <a:srgbClr val="000000"/>
                          </a:solidFill>
                          <a:latin typeface="Calibri"/>
                        </a:rPr>
                        <a:t>4.9–6.2 s</a:t>
                      </a:r>
                    </a:p>
                  </a:txBody>
                  <a:tcPr marL="64008" marR="64008" marT="18288" marB="18288" anchor="ctr">
                    <a:solidFill>
                      <a:srgbClr val="FFFFFF"/>
                    </a:solidFill>
                  </a:tcPr>
                </a:tc>
                <a:tc>
                  <a:txBody>
                    <a:bodyPr wrap="square"/>
                    <a:lstStyle/>
                    <a:p>
                      <a:pPr>
                        <a:lnSpc>
                          <a:spcPct val="95000"/>
                        </a:lnSpc>
                        <a:spcAft>
                          <a:spcPts val="0"/>
                        </a:spcAft>
                      </a:pPr>
                      <a:r>
                        <a:rPr sz="1250" b="1">
                          <a:solidFill>
                            <a:srgbClr val="000000"/>
                          </a:solidFill>
                          <a:latin typeface="Calibri"/>
                        </a:rPr>
                        <a:t>Not met</a:t>
                      </a:r>
                    </a:p>
                  </a:txBody>
                  <a:tcPr marL="64008" marR="64008" marT="18288" marB="18288" anchor="ctr">
                    <a:solidFill>
                      <a:srgbClr val="FFFFFF"/>
                    </a:solidFill>
                  </a:tcPr>
                </a:tc>
              </a:tr>
              <a:tr h="292608">
                <a:tc>
                  <a:txBody>
                    <a:bodyPr wrap="square"/>
                    <a:lstStyle/>
                    <a:p>
                      <a:pPr>
                        <a:lnSpc>
                          <a:spcPct val="95000"/>
                        </a:lnSpc>
                        <a:spcAft>
                          <a:spcPts val="0"/>
                        </a:spcAft>
                      </a:pPr>
                      <a:r>
                        <a:rPr sz="1250" b="0">
                          <a:solidFill>
                            <a:srgbClr val="000000"/>
                          </a:solidFill>
                          <a:latin typeface="Calibri"/>
                        </a:rPr>
                        <a:t>Cost per turn (Anthropic)</a:t>
                      </a:r>
                    </a:p>
                  </a:txBody>
                  <a:tcPr marL="64008" marR="64008" marT="18288" marB="18288" anchor="ctr">
                    <a:solidFill>
                      <a:srgbClr val="F2F2F2"/>
                    </a:solidFill>
                  </a:tcPr>
                </a:tc>
                <a:tc>
                  <a:txBody>
                    <a:bodyPr wrap="square"/>
                    <a:lstStyle/>
                    <a:p>
                      <a:pPr>
                        <a:lnSpc>
                          <a:spcPct val="95000"/>
                        </a:lnSpc>
                        <a:spcAft>
                          <a:spcPts val="0"/>
                        </a:spcAft>
                      </a:pPr>
                      <a:r>
                        <a:rPr sz="1250" b="0">
                          <a:solidFill>
                            <a:srgbClr val="000000"/>
                          </a:solidFill>
                          <a:latin typeface="Calibri"/>
                        </a:rPr>
                        <a:t>≤$0.02</a:t>
                      </a:r>
                    </a:p>
                  </a:txBody>
                  <a:tcPr marL="64008" marR="64008" marT="18288" marB="18288" anchor="ctr">
                    <a:solidFill>
                      <a:srgbClr val="F2F2F2"/>
                    </a:solidFill>
                  </a:tcPr>
                </a:tc>
                <a:tc>
                  <a:txBody>
                    <a:bodyPr wrap="square"/>
                    <a:lstStyle/>
                    <a:p>
                      <a:pPr>
                        <a:lnSpc>
                          <a:spcPct val="95000"/>
                        </a:lnSpc>
                        <a:spcAft>
                          <a:spcPts val="0"/>
                        </a:spcAft>
                      </a:pPr>
                      <a:r>
                        <a:rPr sz="1250" b="1">
                          <a:solidFill>
                            <a:srgbClr val="000000"/>
                          </a:solidFill>
                          <a:latin typeface="Calibri"/>
                        </a:rPr>
                        <a:t>≈$0.025 derived</a:t>
                      </a:r>
                    </a:p>
                  </a:txBody>
                  <a:tcPr marL="64008" marR="64008" marT="18288" marB="18288" anchor="ctr">
                    <a:solidFill>
                      <a:srgbClr val="F2F2F2"/>
                    </a:solidFill>
                  </a:tcPr>
                </a:tc>
                <a:tc>
                  <a:txBody>
                    <a:bodyPr wrap="square"/>
                    <a:lstStyle/>
                    <a:p>
                      <a:pPr>
                        <a:lnSpc>
                          <a:spcPct val="95000"/>
                        </a:lnSpc>
                        <a:spcAft>
                          <a:spcPts val="0"/>
                        </a:spcAft>
                      </a:pPr>
                      <a:r>
                        <a:rPr sz="1250" b="1">
                          <a:solidFill>
                            <a:srgbClr val="000000"/>
                          </a:solidFill>
                          <a:latin typeface="Calibri"/>
                        </a:rPr>
                        <a:t>Not met</a:t>
                      </a:r>
                    </a:p>
                  </a:txBody>
                  <a:tcPr marL="64008" marR="64008" marT="18288" marB="18288" anchor="ctr">
                    <a:solidFill>
                      <a:srgbClr val="F2F2F2"/>
                    </a:solidFill>
                  </a:tcPr>
                </a:tc>
              </a:tr>
              <a:tr h="292608">
                <a:tc>
                  <a:txBody>
                    <a:bodyPr wrap="square"/>
                    <a:lstStyle/>
                    <a:p>
                      <a:pPr>
                        <a:lnSpc>
                          <a:spcPct val="95000"/>
                        </a:lnSpc>
                        <a:spcAft>
                          <a:spcPts val="0"/>
                        </a:spcAft>
                      </a:pPr>
                      <a:r>
                        <a:rPr sz="1250" b="0">
                          <a:solidFill>
                            <a:srgbClr val="000000"/>
                          </a:solidFill>
                          <a:latin typeface="Calibri"/>
                        </a:rPr>
                        <a:t>Speech-to-text latency</a:t>
                      </a:r>
                    </a:p>
                  </a:txBody>
                  <a:tcPr marL="64008" marR="64008" marT="18288" marB="18288" anchor="ctr">
                    <a:solidFill>
                      <a:srgbClr val="FFFFFF"/>
                    </a:solidFill>
                  </a:tcPr>
                </a:tc>
                <a:tc>
                  <a:txBody>
                    <a:bodyPr wrap="square"/>
                    <a:lstStyle/>
                    <a:p>
                      <a:pPr>
                        <a:lnSpc>
                          <a:spcPct val="95000"/>
                        </a:lnSpc>
                        <a:spcAft>
                          <a:spcPts val="0"/>
                        </a:spcAft>
                      </a:pPr>
                      <a:r>
                        <a:rPr sz="1250" b="0">
                          <a:solidFill>
                            <a:srgbClr val="000000"/>
                          </a:solidFill>
                          <a:latin typeface="Calibri"/>
                        </a:rPr>
                        <a:t>—</a:t>
                      </a:r>
                    </a:p>
                  </a:txBody>
                  <a:tcPr marL="64008" marR="64008" marT="18288" marB="18288" anchor="ctr">
                    <a:solidFill>
                      <a:srgbClr val="FFFFFF"/>
                    </a:solidFill>
                  </a:tcPr>
                </a:tc>
                <a:tc>
                  <a:txBody>
                    <a:bodyPr wrap="square"/>
                    <a:lstStyle/>
                    <a:p>
                      <a:pPr>
                        <a:lnSpc>
                          <a:spcPct val="95000"/>
                        </a:lnSpc>
                        <a:spcAft>
                          <a:spcPts val="0"/>
                        </a:spcAft>
                      </a:pPr>
                      <a:r>
                        <a:rPr sz="1250" b="1">
                          <a:solidFill>
                            <a:srgbClr val="000000"/>
                          </a:solidFill>
                          <a:latin typeface="Calibri"/>
                        </a:rPr>
                        <a:t>1.2–1.6 s</a:t>
                      </a:r>
                    </a:p>
                  </a:txBody>
                  <a:tcPr marL="64008" marR="64008" marT="18288" marB="18288" anchor="ctr">
                    <a:solidFill>
                      <a:srgbClr val="FFFFFF"/>
                    </a:solidFill>
                  </a:tcPr>
                </a:tc>
                <a:tc>
                  <a:txBody>
                    <a:bodyPr wrap="square"/>
                    <a:lstStyle/>
                    <a:p>
                      <a:pPr>
                        <a:lnSpc>
                          <a:spcPct val="95000"/>
                        </a:lnSpc>
                        <a:spcAft>
                          <a:spcPts val="0"/>
                        </a:spcAft>
                      </a:pPr>
                      <a:r>
                        <a:rPr sz="1250" b="0">
                          <a:solidFill>
                            <a:srgbClr val="000000"/>
                          </a:solidFill>
                          <a:latin typeface="Calibri"/>
                        </a:rPr>
                        <a:t>Measured</a:t>
                      </a:r>
                    </a:p>
                  </a:txBody>
                  <a:tcPr marL="64008" marR="64008" marT="18288" marB="18288" anchor="ctr">
                    <a:solidFill>
                      <a:srgbClr val="FFFFFF"/>
                    </a:solidFill>
                  </a:tcPr>
                </a:tc>
              </a:tr>
              <a:tr h="292608">
                <a:tc>
                  <a:txBody>
                    <a:bodyPr wrap="square"/>
                    <a:lstStyle/>
                    <a:p>
                      <a:pPr>
                        <a:lnSpc>
                          <a:spcPct val="95000"/>
                        </a:lnSpc>
                        <a:spcAft>
                          <a:spcPts val="0"/>
                        </a:spcAft>
                      </a:pPr>
                      <a:r>
                        <a:rPr sz="1250" b="0">
                          <a:solidFill>
                            <a:srgbClr val="000000"/>
                          </a:solidFill>
                          <a:latin typeface="Calibri"/>
                        </a:rPr>
                        <a:t>First-sentence synthesis</a:t>
                      </a:r>
                    </a:p>
                  </a:txBody>
                  <a:tcPr marL="64008" marR="64008" marT="18288" marB="18288" anchor="ctr">
                    <a:solidFill>
                      <a:srgbClr val="F2F2F2"/>
                    </a:solidFill>
                  </a:tcPr>
                </a:tc>
                <a:tc>
                  <a:txBody>
                    <a:bodyPr wrap="square"/>
                    <a:lstStyle/>
                    <a:p>
                      <a:pPr>
                        <a:lnSpc>
                          <a:spcPct val="95000"/>
                        </a:lnSpc>
                        <a:spcAft>
                          <a:spcPts val="0"/>
                        </a:spcAft>
                      </a:pPr>
                      <a:r>
                        <a:rPr sz="1250" b="0">
                          <a:solidFill>
                            <a:srgbClr val="000000"/>
                          </a:solidFill>
                          <a:latin typeface="Calibri"/>
                        </a:rPr>
                        <a:t>—</a:t>
                      </a:r>
                    </a:p>
                  </a:txBody>
                  <a:tcPr marL="64008" marR="64008" marT="18288" marB="18288" anchor="ctr">
                    <a:solidFill>
                      <a:srgbClr val="F2F2F2"/>
                    </a:solidFill>
                  </a:tcPr>
                </a:tc>
                <a:tc>
                  <a:txBody>
                    <a:bodyPr wrap="square"/>
                    <a:lstStyle/>
                    <a:p>
                      <a:pPr>
                        <a:lnSpc>
                          <a:spcPct val="95000"/>
                        </a:lnSpc>
                        <a:spcAft>
                          <a:spcPts val="0"/>
                        </a:spcAft>
                      </a:pPr>
                      <a:r>
                        <a:rPr sz="1250" b="1">
                          <a:solidFill>
                            <a:srgbClr val="000000"/>
                          </a:solidFill>
                          <a:latin typeface="Calibri"/>
                        </a:rPr>
                        <a:t>1.7–2.5 s</a:t>
                      </a:r>
                    </a:p>
                  </a:txBody>
                  <a:tcPr marL="64008" marR="64008" marT="18288" marB="18288" anchor="ctr">
                    <a:solidFill>
                      <a:srgbClr val="F2F2F2"/>
                    </a:solidFill>
                  </a:tcPr>
                </a:tc>
                <a:tc>
                  <a:txBody>
                    <a:bodyPr wrap="square"/>
                    <a:lstStyle/>
                    <a:p>
                      <a:pPr>
                        <a:lnSpc>
                          <a:spcPct val="95000"/>
                        </a:lnSpc>
                        <a:spcAft>
                          <a:spcPts val="0"/>
                        </a:spcAft>
                      </a:pPr>
                      <a:r>
                        <a:rPr sz="1250" b="0">
                          <a:solidFill>
                            <a:srgbClr val="000000"/>
                          </a:solidFill>
                          <a:latin typeface="Calibri"/>
                        </a:rPr>
                        <a:t>Measured</a:t>
                      </a:r>
                    </a:p>
                  </a:txBody>
                  <a:tcPr marL="64008" marR="64008" marT="18288" marB="18288" anchor="ctr">
                    <a:solidFill>
                      <a:srgbClr val="F2F2F2"/>
                    </a:solidFill>
                  </a:tcPr>
                </a:tc>
              </a:tr>
            </a:tbl>
          </a:graphicData>
        </a:graphic>
      </p:graphicFrame>
      <p:sp>
        <p:nvSpPr>
          <p:cNvPr id="7" name="Rectangle 6"/>
          <p:cNvSpPr/>
          <p:nvPr/>
        </p:nvSpPr>
        <p:spPr>
          <a:xfrm>
            <a:off x="502920" y="4526280"/>
            <a:ext cx="11155680" cy="1371600"/>
          </a:xfrm>
          <a:prstGeom prst="rect">
            <a:avLst/>
          </a:prstGeom>
          <a:solidFill>
            <a:srgbClr val="FFF4CC"/>
          </a:solidFill>
          <a:ln w="158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lnSpc>
                <a:spcPct val="102000"/>
              </a:lnSpc>
              <a:spcAft>
                <a:spcPts val="500"/>
              </a:spcAft>
            </a:pPr>
            <a:r>
              <a:rPr sz="1500" b="1">
                <a:solidFill>
                  <a:srgbClr val="000000"/>
                </a:solidFill>
                <a:latin typeface="Calibri"/>
              </a:rPr>
              <a:t>Never measured on the robot:</a:t>
            </a:r>
            <a:r>
              <a:rPr sz="1500" b="0">
                <a:solidFill>
                  <a:srgbClr val="000000"/>
                </a:solidFill>
                <a:latin typeface="Calibri"/>
              </a:rPr>
              <a:t> router latency · retrieval latency · composer first token · blended cost · untethered runtime. </a:t>
            </a:r>
            <a:r>
              <a:rPr sz="1500" b="1">
                <a:solidFill>
                  <a:srgbClr val="000000"/>
                </a:solidFill>
                <a:latin typeface="Calibri"/>
              </a:rPr>
              <a:t>None is estimated here.</a:t>
            </a:r>
          </a:p>
        </p:txBody>
      </p:sp>
      <p:sp>
        <p:nvSpPr>
          <p:cNvPr id="8" name="TextBox 7"/>
          <p:cNvSpPr txBox="1"/>
          <p:nvPr/>
        </p:nvSpPr>
        <p:spPr>
          <a:xfrm>
            <a:off x="502920" y="6455664"/>
            <a:ext cx="8229600" cy="274320"/>
          </a:xfrm>
          <a:prstGeom prst="rect">
            <a:avLst/>
          </a:prstGeom>
          <a:noFill/>
        </p:spPr>
        <p:txBody>
          <a:bodyPr wrap="square" lIns="27432" rIns="27432" tIns="0" bIns="0">
            <a:spAutoFit/>
          </a:bodyPr>
          <a:lstStyle/>
          <a:p>
            <a:pPr algn="l">
              <a:lnSpc>
                <a:spcPct val="100000"/>
              </a:lnSpc>
              <a:spcAft>
                <a:spcPts val="400"/>
              </a:spcAft>
            </a:pPr>
            <a:r>
              <a:rPr sz="850" b="0">
                <a:solidFill>
                  <a:srgbClr val="808080"/>
                </a:solidFill>
                <a:latin typeface="Calibri"/>
              </a:rPr>
              <a:t>Supervaise Inc. — CJAP handover · repo pi/deployment-snapshots @ 2545882 (2026-08-31)</a:t>
            </a:r>
          </a:p>
        </p:txBody>
      </p:sp>
      <p:sp>
        <p:nvSpPr>
          <p:cNvPr id="9" name="TextBox 8"/>
          <p:cNvSpPr txBox="1"/>
          <p:nvPr/>
        </p:nvSpPr>
        <p:spPr>
          <a:xfrm>
            <a:off x="11064240" y="6455664"/>
            <a:ext cx="685800" cy="274320"/>
          </a:xfrm>
          <a:prstGeom prst="rect">
            <a:avLst/>
          </a:prstGeom>
          <a:noFill/>
        </p:spPr>
        <p:txBody>
          <a:bodyPr wrap="square" lIns="27432" rIns="27432" tIns="0" bIns="0">
            <a:spAutoFit/>
          </a:bodyPr>
          <a:lstStyle/>
          <a:p>
            <a:pPr algn="r">
              <a:lnSpc>
                <a:spcPct val="100000"/>
              </a:lnSpc>
              <a:spcAft>
                <a:spcPts val="400"/>
              </a:spcAft>
            </a:pPr>
            <a:r>
              <a:rPr sz="900" b="0">
                <a:solidFill>
                  <a:srgbClr val="80808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02920" y="164592"/>
            <a:ext cx="10424160" cy="457200"/>
          </a:xfrm>
          <a:prstGeom prst="rect">
            <a:avLst/>
          </a:prstGeom>
          <a:noFill/>
        </p:spPr>
        <p:txBody>
          <a:bodyPr wrap="square" lIns="27432" rIns="27432" tIns="0" bIns="0">
            <a:spAutoFit/>
          </a:bodyPr>
          <a:lstStyle/>
          <a:p>
            <a:pPr algn="l">
              <a:lnSpc>
                <a:spcPct val="100000"/>
              </a:lnSpc>
              <a:spcAft>
                <a:spcPts val="400"/>
              </a:spcAft>
            </a:pPr>
            <a:r>
              <a:rPr sz="2700" b="1">
                <a:solidFill>
                  <a:srgbClr val="FFFFFF"/>
                </a:solidFill>
                <a:latin typeface="Calibri"/>
              </a:rPr>
              <a:t>Conversation app</a:t>
            </a:r>
          </a:p>
        </p:txBody>
      </p:sp>
      <p:sp>
        <p:nvSpPr>
          <p:cNvPr id="4" name="TextBox 3"/>
          <p:cNvSpPr txBox="1"/>
          <p:nvPr/>
        </p:nvSpPr>
        <p:spPr>
          <a:xfrm>
            <a:off x="502920" y="566928"/>
            <a:ext cx="10424160" cy="274320"/>
          </a:xfrm>
          <a:prstGeom prst="rect">
            <a:avLst/>
          </a:prstGeom>
          <a:noFill/>
        </p:spPr>
        <p:txBody>
          <a:bodyPr wrap="square" lIns="27432" rIns="27432" tIns="0" bIns="0">
            <a:spAutoFit/>
          </a:bodyPr>
          <a:lstStyle/>
          <a:p>
            <a:pPr algn="l">
              <a:lnSpc>
                <a:spcPct val="100000"/>
              </a:lnSpc>
              <a:spcAft>
                <a:spcPts val="400"/>
              </a:spcAft>
            </a:pPr>
            <a:r>
              <a:rPr sz="1150" b="0">
                <a:solidFill>
                  <a:srgbClr val="C8E6C8"/>
                </a:solidFill>
                <a:latin typeface="Calibri"/>
              </a:rPr>
              <a:t>app/dashboard.py — Streamlit, runs on a laptop</a:t>
            </a:r>
          </a:p>
        </p:txBody>
      </p:sp>
      <p:sp>
        <p:nvSpPr>
          <p:cNvPr id="5" name="Rectangle 4"/>
          <p:cNvSpPr/>
          <p:nvPr/>
        </p:nvSpPr>
        <p:spPr>
          <a:xfrm>
            <a:off x="0" y="841248"/>
            <a:ext cx="12191695" cy="41148"/>
          </a:xfrm>
          <a:prstGeom prst="rect">
            <a:avLst/>
          </a:prstGeom>
          <a:solidFill>
            <a:srgbClr val="00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02920" y="1188720"/>
            <a:ext cx="5943600" cy="4297680"/>
          </a:xfrm>
          <a:prstGeom prst="rect">
            <a:avLst/>
          </a:prstGeom>
          <a:solidFill>
            <a:srgbClr val="F7F7F7"/>
          </a:solidFill>
          <a:ln w="1587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73152" bIns="73152"/>
          <a:lstStyle/>
          <a:p>
            <a:pPr algn="ctr">
              <a:lnSpc>
                <a:spcPct val="100000"/>
              </a:lnSpc>
              <a:spcAft>
                <a:spcPts val="0"/>
              </a:spcAft>
            </a:pPr>
            <a:r>
              <a:rPr sz="1050">
                <a:solidFill>
                  <a:srgbClr val="000000"/>
                </a:solidFill>
                <a:latin typeface="Consolas"/>
              </a:rPr>
              <a:t>┌──────────────────────────────────────────────┐</a:t>
            </a:r>
          </a:p>
          <a:p>
            <a:pPr>
              <a:lnSpc>
                <a:spcPct val="100000"/>
              </a:lnSpc>
              <a:spcAft>
                <a:spcPts val="0"/>
              </a:spcAft>
            </a:pPr>
            <a:r>
              <a:rPr sz="1050">
                <a:solidFill>
                  <a:srgbClr val="000000"/>
                </a:solidFill>
                <a:latin typeface="Consolas"/>
              </a:rPr>
              <a:t>│ [sidebar ◄]        ⚖  With Due Respect       │</a:t>
            </a:r>
          </a:p>
          <a:p>
            <a:pPr>
              <a:lnSpc>
                <a:spcPct val="100000"/>
              </a:lnSpc>
              <a:spcAft>
                <a:spcPts val="0"/>
              </a:spcAft>
            </a:pPr>
            <a:r>
              <a:rPr sz="1050">
                <a:solidFill>
                  <a:srgbClr val="000000"/>
                </a:solidFill>
                <a:latin typeface="Consolas"/>
              </a:rPr>
              <a:t>│  Settings                                    │</a:t>
            </a:r>
          </a:p>
          <a:p>
            <a:pPr>
              <a:lnSpc>
                <a:spcPct val="100000"/>
              </a:lnSpc>
              <a:spcAft>
                <a:spcPts val="0"/>
              </a:spcAft>
            </a:pPr>
            <a:r>
              <a:rPr sz="1050">
                <a:solidFill>
                  <a:srgbClr val="000000"/>
                </a:solidFill>
                <a:latin typeface="Consolas"/>
              </a:rPr>
              <a:t>│  ☑ Voice response                            │</a:t>
            </a:r>
          </a:p>
          <a:p>
            <a:pPr>
              <a:lnSpc>
                <a:spcPct val="100000"/>
              </a:lnSpc>
              <a:spcAft>
                <a:spcPts val="0"/>
              </a:spcAft>
            </a:pPr>
            <a:r>
              <a:rPr sz="1050">
                <a:solidFill>
                  <a:srgbClr val="000000"/>
                </a:solidFill>
                <a:latin typeface="Consolas"/>
              </a:rPr>
              <a:t>│  ☐ TTS chunks (debug)                        │</a:t>
            </a:r>
          </a:p>
          <a:p>
            <a:pPr>
              <a:lnSpc>
                <a:spcPct val="100000"/>
              </a:lnSpc>
              <a:spcAft>
                <a:spcPts val="0"/>
              </a:spcAft>
            </a:pPr>
            <a:r>
              <a:rPr sz="1050">
                <a:solidFill>
                  <a:srgbClr val="000000"/>
                </a:solidFill>
                <a:latin typeface="Consolas"/>
              </a:rPr>
              <a:t>│  🧹 Clear conversation                       │</a:t>
            </a:r>
          </a:p>
          <a:p>
            <a:pPr>
              <a:lnSpc>
                <a:spcPct val="100000"/>
              </a:lnSpc>
              <a:spcAft>
                <a:spcPts val="0"/>
              </a:spcAft>
            </a:pPr>
            <a:r>
              <a:rPr sz="1050">
                <a:solidFill>
                  <a:srgbClr val="000000"/>
                </a:solidFill>
                <a:latin typeface="Consolas"/>
              </a:rPr>
              <a:t>│  Router / Inference / STT / TTS model ids    │</a:t>
            </a:r>
          </a:p>
          <a:p>
            <a:pPr>
              <a:lnSpc>
                <a:spcPct val="100000"/>
              </a:lnSpc>
              <a:spcAft>
                <a:spcPts val="0"/>
              </a:spcAft>
            </a:pPr>
            <a:r>
              <a:rPr sz="1050">
                <a:solidFill>
                  <a:srgbClr val="000000"/>
                </a:solidFill>
                <a:latin typeface="Consolas"/>
              </a:rPr>
              <a:t>│  Topics loaded: 35                           │</a:t>
            </a:r>
          </a:p>
          <a:p>
            <a:pPr>
              <a:lnSpc>
                <a:spcPct val="100000"/>
              </a:lnSpc>
              <a:spcAft>
                <a:spcPts val="0"/>
              </a:spcAft>
            </a:pPr>
            <a:r>
              <a:rPr sz="1050">
                <a:solidFill>
                  <a:srgbClr val="000000"/>
                </a:solidFill>
                <a:latin typeface="Consolas"/>
              </a:rPr>
              <a:t>├──────────────────────────────────────────────┤</a:t>
            </a:r>
          </a:p>
          <a:p>
            <a:pPr>
              <a:lnSpc>
                <a:spcPct val="100000"/>
              </a:lnSpc>
              <a:spcAft>
                <a:spcPts val="0"/>
              </a:spcAft>
            </a:pPr>
            <a:r>
              <a:rPr sz="1050">
                <a:solidFill>
                  <a:srgbClr val="000000"/>
                </a:solidFill>
                <a:latin typeface="Consolas"/>
              </a:rPr>
              <a:t>│  ┌ assistant ──────────────────────────────┐ │</a:t>
            </a:r>
          </a:p>
          <a:p>
            <a:pPr>
              <a:lnSpc>
                <a:spcPct val="100000"/>
              </a:lnSpc>
              <a:spcAft>
                <a:spcPts val="0"/>
              </a:spcAft>
            </a:pPr>
            <a:r>
              <a:rPr sz="1050">
                <a:solidFill>
                  <a:srgbClr val="000000"/>
                </a:solidFill>
                <a:latin typeface="Consolas"/>
              </a:rPr>
              <a:t>│  │ answer streams token by token           │ │</a:t>
            </a:r>
          </a:p>
          <a:p>
            <a:pPr>
              <a:lnSpc>
                <a:spcPct val="100000"/>
              </a:lnSpc>
              <a:spcAft>
                <a:spcPts val="0"/>
              </a:spcAft>
            </a:pPr>
            <a:r>
              <a:rPr sz="1050">
                <a:solidFill>
                  <a:srgbClr val="000000"/>
                </a:solidFill>
                <a:latin typeface="Consolas"/>
              </a:rPr>
              <a:t>│  │ ▶ ───────────────  audio player         │ │</a:t>
            </a:r>
          </a:p>
          <a:p>
            <a:pPr>
              <a:lnSpc>
                <a:spcPct val="100000"/>
              </a:lnSpc>
              <a:spcAft>
                <a:spcPts val="0"/>
              </a:spcAft>
            </a:pPr>
            <a:r>
              <a:rPr sz="1050">
                <a:solidFill>
                  <a:srgbClr val="000000"/>
                </a:solidFill>
                <a:latin typeface="Consolas"/>
              </a:rPr>
              <a:t>│  │ ▼ 📚 Sources — rule_of_law (high)       │ │</a:t>
            </a:r>
          </a:p>
          <a:p>
            <a:pPr>
              <a:lnSpc>
                <a:spcPct val="100000"/>
              </a:lnSpc>
              <a:spcAft>
                <a:spcPts val="0"/>
              </a:spcAft>
            </a:pPr>
            <a:r>
              <a:rPr sz="1050">
                <a:solidFill>
                  <a:srgbClr val="000000"/>
                </a:solidFill>
                <a:latin typeface="Consolas"/>
              </a:rPr>
              <a:t>│  └─────────────────────────────────────────┘ │</a:t>
            </a:r>
          </a:p>
          <a:p>
            <a:pPr>
              <a:lnSpc>
                <a:spcPct val="100000"/>
              </a:lnSpc>
              <a:spcAft>
                <a:spcPts val="0"/>
              </a:spcAft>
            </a:pPr>
            <a:r>
              <a:rPr sz="1050">
                <a:solidFill>
                  <a:srgbClr val="000000"/>
                </a:solidFill>
                <a:latin typeface="Consolas"/>
              </a:rPr>
              <a:t>├──────────────────────────────────────────────┤</a:t>
            </a:r>
          </a:p>
          <a:p>
            <a:pPr>
              <a:lnSpc>
                <a:spcPct val="100000"/>
              </a:lnSpc>
              <a:spcAft>
                <a:spcPts val="0"/>
              </a:spcAft>
            </a:pPr>
            <a:r>
              <a:rPr sz="1050">
                <a:solidFill>
                  <a:srgbClr val="000000"/>
                </a:solidFill>
                <a:latin typeface="Consolas"/>
              </a:rPr>
              <a:t>│  ⏺ Press to start talking      ⏹ stop        │</a:t>
            </a:r>
          </a:p>
          <a:p>
            <a:pPr>
              <a:lnSpc>
                <a:spcPct val="100000"/>
              </a:lnSpc>
              <a:spcAft>
                <a:spcPts val="0"/>
              </a:spcAft>
            </a:pPr>
            <a:r>
              <a:rPr sz="1050">
                <a:solidFill>
                  <a:srgbClr val="000000"/>
                </a:solidFill>
                <a:latin typeface="Consolas"/>
              </a:rPr>
              <a:t>│  … or type your question (fallback)          │</a:t>
            </a:r>
          </a:p>
          <a:p>
            <a:pPr>
              <a:lnSpc>
                <a:spcPct val="100000"/>
              </a:lnSpc>
              <a:spcAft>
                <a:spcPts val="0"/>
              </a:spcAft>
            </a:pPr>
            <a:r>
              <a:rPr sz="1050">
                <a:solidFill>
                  <a:srgbClr val="000000"/>
                </a:solidFill>
                <a:latin typeface="Consolas"/>
              </a:rPr>
              <a:t>└──────────────────────────────────────────────┘</a:t>
            </a:r>
          </a:p>
        </p:txBody>
      </p:sp>
      <p:sp>
        <p:nvSpPr>
          <p:cNvPr id="7" name="TextBox 6"/>
          <p:cNvSpPr txBox="1"/>
          <p:nvPr/>
        </p:nvSpPr>
        <p:spPr>
          <a:xfrm>
            <a:off x="6766560" y="1371600"/>
            <a:ext cx="4892040" cy="3840480"/>
          </a:xfrm>
          <a:prstGeom prst="rect">
            <a:avLst/>
          </a:prstGeom>
          <a:noFill/>
        </p:spPr>
        <p:txBody>
          <a:bodyPr wrap="square" lIns="0" rIns="0" tIns="0" bIns="0">
            <a:spAutoFit/>
          </a:bodyPr>
          <a:lstStyle/>
          <a:p>
            <a:pPr>
              <a:lnSpc>
                <a:spcPct val="102000"/>
              </a:lnSpc>
              <a:spcAft>
                <a:spcPts val="2200"/>
              </a:spcAft>
            </a:pPr>
            <a:r>
              <a:rPr sz="1600">
                <a:solidFill>
                  <a:srgbClr val="00CC00"/>
                </a:solidFill>
                <a:latin typeface="Calibri"/>
              </a:rPr>
              <a:t>▪  </a:t>
            </a:r>
            <a:r>
              <a:rPr sz="1600" b="1">
                <a:solidFill>
                  <a:srgbClr val="000000"/>
                </a:solidFill>
                <a:latin typeface="Calibri"/>
              </a:rPr>
              <a:t>Used by:</a:t>
            </a:r>
            <a:r>
              <a:rPr sz="1600" b="0">
                <a:solidFill>
                  <a:srgbClr val="000000"/>
                </a:solidFill>
                <a:latin typeface="Calibri"/>
              </a:rPr>
              <a:t> presenter, reviewer, engineer</a:t>
            </a:r>
          </a:p>
          <a:p>
            <a:pPr>
              <a:lnSpc>
                <a:spcPct val="102000"/>
              </a:lnSpc>
              <a:spcAft>
                <a:spcPts val="2200"/>
              </a:spcAft>
            </a:pPr>
            <a:r>
              <a:rPr sz="1600">
                <a:solidFill>
                  <a:srgbClr val="00CC00"/>
                </a:solidFill>
                <a:latin typeface="Calibri"/>
              </a:rPr>
              <a:t>▪  </a:t>
            </a:r>
            <a:r>
              <a:rPr sz="1600" b="1">
                <a:solidFill>
                  <a:srgbClr val="000000"/>
                </a:solidFill>
                <a:latin typeface="Calibri"/>
              </a:rPr>
              <a:t>Actions:</a:t>
            </a:r>
            <a:r>
              <a:rPr sz="1600" b="0">
                <a:solidFill>
                  <a:srgbClr val="000000"/>
                </a:solidFill>
                <a:latin typeface="Calibri"/>
              </a:rPr>
              <a:t> mic · text fallback · streamed answer · replay · </a:t>
            </a:r>
            <a:r>
              <a:rPr sz="1600" b="1">
                <a:solidFill>
                  <a:srgbClr val="000000"/>
                </a:solidFill>
                <a:latin typeface="Calibri"/>
              </a:rPr>
              <a:t>Sources</a:t>
            </a:r>
            <a:r>
              <a:rPr sz="1600" b="0">
                <a:solidFill>
                  <a:srgbClr val="000000"/>
                </a:solidFill>
                <a:latin typeface="Calibri"/>
              </a:rPr>
              <a:t> panel</a:t>
            </a:r>
          </a:p>
          <a:p>
            <a:pPr>
              <a:lnSpc>
                <a:spcPct val="102000"/>
              </a:lnSpc>
              <a:spcAft>
                <a:spcPts val="2200"/>
              </a:spcAft>
            </a:pPr>
            <a:r>
              <a:rPr sz="1600">
                <a:solidFill>
                  <a:srgbClr val="00CC00"/>
                </a:solidFill>
                <a:latin typeface="Calibri"/>
              </a:rPr>
              <a:t>▪  </a:t>
            </a:r>
            <a:r>
              <a:rPr sz="1600" b="0">
                <a:solidFill>
                  <a:srgbClr val="000000"/>
                </a:solidFill>
                <a:latin typeface="Calibri"/>
              </a:rPr>
              <a:t>Speaks through </a:t>
            </a:r>
            <a:r>
              <a:rPr sz="1600" b="1">
                <a:solidFill>
                  <a:srgbClr val="000000"/>
                </a:solidFill>
                <a:latin typeface="Calibri"/>
              </a:rPr>
              <a:t>OpenAI TTS</a:t>
            </a:r>
            <a:r>
              <a:rPr sz="1600" b="0">
                <a:solidFill>
                  <a:srgbClr val="000000"/>
                </a:solidFill>
                <a:latin typeface="Calibri"/>
              </a:rPr>
              <a:t>, not the clone</a:t>
            </a:r>
          </a:p>
        </p:txBody>
      </p:sp>
      <p:sp>
        <p:nvSpPr>
          <p:cNvPr id="8" name="TextBox 7"/>
          <p:cNvSpPr txBox="1"/>
          <p:nvPr/>
        </p:nvSpPr>
        <p:spPr>
          <a:xfrm>
            <a:off x="502920" y="5669280"/>
            <a:ext cx="11155680" cy="365760"/>
          </a:xfrm>
          <a:prstGeom prst="rect">
            <a:avLst/>
          </a:prstGeom>
          <a:noFill/>
        </p:spPr>
        <p:txBody>
          <a:bodyPr wrap="square" lIns="27432" rIns="27432" tIns="0" bIns="0">
            <a:spAutoFit/>
          </a:bodyPr>
          <a:lstStyle/>
          <a:p>
            <a:pPr algn="l">
              <a:lnSpc>
                <a:spcPct val="100000"/>
              </a:lnSpc>
              <a:spcAft>
                <a:spcPts val="400"/>
              </a:spcAft>
            </a:pPr>
            <a:r>
              <a:rPr sz="1200" b="0">
                <a:solidFill>
                  <a:srgbClr val="808080"/>
                </a:solidFill>
                <a:latin typeface="Calibri"/>
              </a:rPr>
              <a:t>Wireframe from source — not a screenshot.</a:t>
            </a:r>
          </a:p>
        </p:txBody>
      </p:sp>
      <p:sp>
        <p:nvSpPr>
          <p:cNvPr id="9" name="TextBox 8"/>
          <p:cNvSpPr txBox="1"/>
          <p:nvPr/>
        </p:nvSpPr>
        <p:spPr>
          <a:xfrm>
            <a:off x="502920" y="6455664"/>
            <a:ext cx="8229600" cy="274320"/>
          </a:xfrm>
          <a:prstGeom prst="rect">
            <a:avLst/>
          </a:prstGeom>
          <a:noFill/>
        </p:spPr>
        <p:txBody>
          <a:bodyPr wrap="square" lIns="27432" rIns="27432" tIns="0" bIns="0">
            <a:spAutoFit/>
          </a:bodyPr>
          <a:lstStyle/>
          <a:p>
            <a:pPr algn="l">
              <a:lnSpc>
                <a:spcPct val="100000"/>
              </a:lnSpc>
              <a:spcAft>
                <a:spcPts val="400"/>
              </a:spcAft>
            </a:pPr>
            <a:r>
              <a:rPr sz="850" b="0">
                <a:solidFill>
                  <a:srgbClr val="808080"/>
                </a:solidFill>
                <a:latin typeface="Calibri"/>
              </a:rPr>
              <a:t>Supervaise Inc. — CJAP handover · repo pi/deployment-snapshots @ 2545882 (2026-08-31)</a:t>
            </a:r>
          </a:p>
        </p:txBody>
      </p:sp>
      <p:sp>
        <p:nvSpPr>
          <p:cNvPr id="10" name="TextBox 9"/>
          <p:cNvSpPr txBox="1"/>
          <p:nvPr/>
        </p:nvSpPr>
        <p:spPr>
          <a:xfrm>
            <a:off x="11064240" y="6455664"/>
            <a:ext cx="685800" cy="274320"/>
          </a:xfrm>
          <a:prstGeom prst="rect">
            <a:avLst/>
          </a:prstGeom>
          <a:noFill/>
        </p:spPr>
        <p:txBody>
          <a:bodyPr wrap="square" lIns="27432" rIns="27432" tIns="0" bIns="0">
            <a:spAutoFit/>
          </a:bodyPr>
          <a:lstStyle/>
          <a:p>
            <a:pPr algn="r">
              <a:lnSpc>
                <a:spcPct val="100000"/>
              </a:lnSpc>
              <a:spcAft>
                <a:spcPts val="400"/>
              </a:spcAft>
            </a:pPr>
            <a:r>
              <a:rPr sz="900" b="0">
                <a:solidFill>
                  <a:srgbClr val="80808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02920" y="164592"/>
            <a:ext cx="10424160" cy="457200"/>
          </a:xfrm>
          <a:prstGeom prst="rect">
            <a:avLst/>
          </a:prstGeom>
          <a:noFill/>
        </p:spPr>
        <p:txBody>
          <a:bodyPr wrap="square" lIns="27432" rIns="27432" tIns="0" bIns="0">
            <a:spAutoFit/>
          </a:bodyPr>
          <a:lstStyle/>
          <a:p>
            <a:pPr algn="l">
              <a:lnSpc>
                <a:spcPct val="100000"/>
              </a:lnSpc>
              <a:spcAft>
                <a:spcPts val="400"/>
              </a:spcAft>
            </a:pPr>
            <a:r>
              <a:rPr sz="2700" b="1">
                <a:solidFill>
                  <a:srgbClr val="FFFFFF"/>
                </a:solidFill>
                <a:latin typeface="Calibri"/>
              </a:rPr>
              <a:t>Maintenance dashboard</a:t>
            </a:r>
          </a:p>
        </p:txBody>
      </p:sp>
      <p:sp>
        <p:nvSpPr>
          <p:cNvPr id="4" name="TextBox 3"/>
          <p:cNvSpPr txBox="1"/>
          <p:nvPr/>
        </p:nvSpPr>
        <p:spPr>
          <a:xfrm>
            <a:off x="502920" y="566928"/>
            <a:ext cx="10424160" cy="274320"/>
          </a:xfrm>
          <a:prstGeom prst="rect">
            <a:avLst/>
          </a:prstGeom>
          <a:noFill/>
        </p:spPr>
        <p:txBody>
          <a:bodyPr wrap="square" lIns="27432" rIns="27432" tIns="0" bIns="0">
            <a:spAutoFit/>
          </a:bodyPr>
          <a:lstStyle/>
          <a:p>
            <a:pPr algn="l">
              <a:lnSpc>
                <a:spcPct val="100000"/>
              </a:lnSpc>
              <a:spcAft>
                <a:spcPts val="400"/>
              </a:spcAft>
            </a:pPr>
            <a:r>
              <a:rPr sz="1150" b="0">
                <a:solidFill>
                  <a:srgbClr val="C8E6C8"/>
                </a:solidFill>
                <a:latin typeface="Calibri"/>
              </a:rPr>
              <a:t>on the robot at :8080, key-gated</a:t>
            </a:r>
          </a:p>
        </p:txBody>
      </p:sp>
      <p:sp>
        <p:nvSpPr>
          <p:cNvPr id="5" name="Rectangle 4"/>
          <p:cNvSpPr/>
          <p:nvPr/>
        </p:nvSpPr>
        <p:spPr>
          <a:xfrm>
            <a:off x="0" y="841248"/>
            <a:ext cx="12191695" cy="41148"/>
          </a:xfrm>
          <a:prstGeom prst="rect">
            <a:avLst/>
          </a:prstGeom>
          <a:solidFill>
            <a:srgbClr val="00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02920" y="1188720"/>
            <a:ext cx="5943600" cy="4297680"/>
          </a:xfrm>
          <a:prstGeom prst="rect">
            <a:avLst/>
          </a:prstGeom>
          <a:solidFill>
            <a:srgbClr val="F7F7F7"/>
          </a:solidFill>
          <a:ln w="1587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73152" bIns="73152"/>
          <a:lstStyle/>
          <a:p>
            <a:pPr algn="ctr">
              <a:lnSpc>
                <a:spcPct val="100000"/>
              </a:lnSpc>
              <a:spcAft>
                <a:spcPts val="0"/>
              </a:spcAft>
            </a:pPr>
            <a:r>
              <a:rPr sz="1050">
                <a:solidFill>
                  <a:srgbClr val="000000"/>
                </a:solidFill>
                <a:latin typeface="Consolas"/>
              </a:rPr>
              <a:t> /maintain?key=cjap</a:t>
            </a:r>
          </a:p>
          <a:p>
            <a:pPr>
              <a:lnSpc>
                <a:spcPct val="100000"/>
              </a:lnSpc>
              <a:spcAft>
                <a:spcPts val="0"/>
              </a:spcAft>
            </a:pPr>
            <a:r>
              <a:rPr sz="1050">
                <a:solidFill>
                  <a:srgbClr val="000000"/>
                </a:solidFill>
                <a:latin typeface="Consolas"/>
              </a:rPr>
              <a:t>┌──────────────────────────────────────────────┐</a:t>
            </a:r>
          </a:p>
          <a:p>
            <a:pPr>
              <a:lnSpc>
                <a:spcPct val="100000"/>
              </a:lnSpc>
              <a:spcAft>
                <a:spcPts val="0"/>
              </a:spcAft>
            </a:pPr>
            <a:r>
              <a:rPr sz="1050">
                <a:solidFill>
                  <a:srgbClr val="000000"/>
                </a:solidFill>
                <a:latin typeface="Consolas"/>
              </a:rPr>
              <a:t>│ ┌Health──────────┐ ┌System──────────────────┐│</a:t>
            </a:r>
          </a:p>
          <a:p>
            <a:pPr>
              <a:lnSpc>
                <a:spcPct val="100000"/>
              </a:lnSpc>
              <a:spcAft>
                <a:spcPts val="0"/>
              </a:spcAft>
            </a:pPr>
            <a:r>
              <a:rPr sz="1050">
                <a:solidFill>
                  <a:srgbClr val="000000"/>
                </a:solidFill>
                <a:latin typeface="Consolas"/>
              </a:rPr>
              <a:t>│ │ services up    │ │ temp · disk · network  ││</a:t>
            </a:r>
          </a:p>
          <a:p>
            <a:pPr>
              <a:lnSpc>
                <a:spcPct val="100000"/>
              </a:lnSpc>
              <a:spcAft>
                <a:spcPts val="0"/>
              </a:spcAft>
            </a:pPr>
            <a:r>
              <a:rPr sz="1050">
                <a:solidFill>
                  <a:srgbClr val="000000"/>
                </a:solidFill>
                <a:latin typeface="Consolas"/>
              </a:rPr>
              <a:t>│ └────────────────┘ └────────────────────────┘│</a:t>
            </a:r>
          </a:p>
          <a:p>
            <a:pPr>
              <a:lnSpc>
                <a:spcPct val="100000"/>
              </a:lnSpc>
              <a:spcAft>
                <a:spcPts val="0"/>
              </a:spcAft>
            </a:pPr>
            <a:r>
              <a:rPr sz="1050">
                <a:solidFill>
                  <a:srgbClr val="000000"/>
                </a:solidFill>
                <a:latin typeface="Consolas"/>
              </a:rPr>
              <a:t>│ ┌Current turn────┐ ┌Stage latency───────────┐│</a:t>
            </a:r>
          </a:p>
          <a:p>
            <a:pPr>
              <a:lnSpc>
                <a:spcPct val="100000"/>
              </a:lnSpc>
              <a:spcAft>
                <a:spcPts val="0"/>
              </a:spcAft>
            </a:pPr>
            <a:r>
              <a:rPr sz="1050">
                <a:solidFill>
                  <a:srgbClr val="000000"/>
                </a:solidFill>
                <a:latin typeface="Consolas"/>
              </a:rPr>
              <a:t>│ │ cost ¢ · total │ │ gate · route · synth   ││</a:t>
            </a:r>
          </a:p>
          <a:p>
            <a:pPr>
              <a:lnSpc>
                <a:spcPct val="100000"/>
              </a:lnSpc>
              <a:spcAft>
                <a:spcPts val="0"/>
              </a:spcAft>
            </a:pPr>
            <a:r>
              <a:rPr sz="1050">
                <a:solidFill>
                  <a:srgbClr val="000000"/>
                </a:solidFill>
                <a:latin typeface="Consolas"/>
              </a:rPr>
              <a:t>│ └────────────────┘ └────────────────────────┘│</a:t>
            </a:r>
          </a:p>
          <a:p>
            <a:pPr>
              <a:lnSpc>
                <a:spcPct val="100000"/>
              </a:lnSpc>
              <a:spcAft>
                <a:spcPts val="0"/>
              </a:spcAft>
            </a:pPr>
            <a:r>
              <a:rPr sz="1050">
                <a:solidFill>
                  <a:srgbClr val="000000"/>
                </a:solidFill>
                <a:latin typeface="Consolas"/>
              </a:rPr>
              <a:t>│ ┌Recent turns (tracking)───────────────────┐ │</a:t>
            </a:r>
          </a:p>
          <a:p>
            <a:pPr>
              <a:lnSpc>
                <a:spcPct val="100000"/>
              </a:lnSpc>
              <a:spcAft>
                <a:spcPts val="0"/>
              </a:spcAft>
            </a:pPr>
            <a:r>
              <a:rPr sz="1050">
                <a:solidFill>
                  <a:srgbClr val="000000"/>
                </a:solidFill>
                <a:latin typeface="Consolas"/>
              </a:rPr>
              <a:t>│ │ question │ route │ cost │ seconds        │ │</a:t>
            </a:r>
          </a:p>
          <a:p>
            <a:pPr>
              <a:lnSpc>
                <a:spcPct val="100000"/>
              </a:lnSpc>
              <a:spcAft>
                <a:spcPts val="0"/>
              </a:spcAft>
            </a:pPr>
            <a:r>
              <a:rPr sz="1050">
                <a:solidFill>
                  <a:srgbClr val="000000"/>
                </a:solidFill>
                <a:latin typeface="Consolas"/>
              </a:rPr>
              <a:t>│ └──────────────────────────────────────────┘ │</a:t>
            </a:r>
          </a:p>
          <a:p>
            <a:pPr>
              <a:lnSpc>
                <a:spcPct val="100000"/>
              </a:lnSpc>
              <a:spcAft>
                <a:spcPts val="0"/>
              </a:spcAft>
            </a:pPr>
            <a:r>
              <a:rPr sz="1050">
                <a:solidFill>
                  <a:srgbClr val="000000"/>
                </a:solidFill>
                <a:latin typeface="Consolas"/>
              </a:rPr>
              <a:t>│ ┌Conversation (raw vs corrected)───────────┐ │</a:t>
            </a:r>
          </a:p>
          <a:p>
            <a:pPr>
              <a:lnSpc>
                <a:spcPct val="100000"/>
              </a:lnSpc>
              <a:spcAft>
                <a:spcPts val="0"/>
              </a:spcAft>
            </a:pPr>
            <a:r>
              <a:rPr sz="1050">
                <a:solidFill>
                  <a:srgbClr val="000000"/>
                </a:solidFill>
                <a:latin typeface="Consolas"/>
              </a:rPr>
              <a:t>│ │ NER corrections (P0)                     │ │</a:t>
            </a:r>
          </a:p>
          <a:p>
            <a:pPr>
              <a:lnSpc>
                <a:spcPct val="100000"/>
              </a:lnSpc>
              <a:spcAft>
                <a:spcPts val="0"/>
              </a:spcAft>
            </a:pPr>
            <a:r>
              <a:rPr sz="1050">
                <a:solidFill>
                  <a:srgbClr val="000000"/>
                </a:solidFill>
                <a:latin typeface="Consolas"/>
              </a:rPr>
              <a:t>│ └──────────────────────────────────────────┘ │</a:t>
            </a:r>
          </a:p>
          <a:p>
            <a:pPr>
              <a:lnSpc>
                <a:spcPct val="100000"/>
              </a:lnSpc>
              <a:spcAft>
                <a:spcPts val="0"/>
              </a:spcAft>
            </a:pPr>
            <a:r>
              <a:rPr sz="1050">
                <a:solidFill>
                  <a:srgbClr val="000000"/>
                </a:solidFill>
                <a:latin typeface="Consolas"/>
              </a:rPr>
              <a:t>│ ┌Claude──┐ ┌OpenAI STT─┐ ┌ElevenLabs──────┐  │</a:t>
            </a:r>
          </a:p>
          <a:p>
            <a:pPr>
              <a:lnSpc>
                <a:spcPct val="100000"/>
              </a:lnSpc>
              <a:spcAft>
                <a:spcPts val="0"/>
              </a:spcAft>
            </a:pPr>
            <a:r>
              <a:rPr sz="1050">
                <a:solidFill>
                  <a:srgbClr val="000000"/>
                </a:solidFill>
                <a:latin typeface="Consolas"/>
              </a:rPr>
              <a:t>│ └────────┘ └───────────┘ └────────────────┘  │</a:t>
            </a:r>
          </a:p>
          <a:p>
            <a:pPr>
              <a:lnSpc>
                <a:spcPct val="100000"/>
              </a:lnSpc>
              <a:spcAft>
                <a:spcPts val="0"/>
              </a:spcAft>
            </a:pPr>
            <a:r>
              <a:rPr sz="1050">
                <a:solidFill>
                  <a:srgbClr val="000000"/>
                </a:solidFill>
                <a:latin typeface="Consolas"/>
              </a:rPr>
              <a:t>│ ┌Controls┐ ┌Manual actions────────────────┐  │</a:t>
            </a:r>
          </a:p>
          <a:p>
            <a:pPr>
              <a:lnSpc>
                <a:spcPct val="100000"/>
              </a:lnSpc>
              <a:spcAft>
                <a:spcPts val="0"/>
              </a:spcAft>
            </a:pPr>
            <a:r>
              <a:rPr sz="1050">
                <a:solidFill>
                  <a:srgbClr val="000000"/>
                </a:solidFill>
                <a:latin typeface="Consolas"/>
              </a:rPr>
              <a:t>│ │ mute   │ │ force listen · say text      │  │</a:t>
            </a:r>
          </a:p>
          <a:p>
            <a:pPr>
              <a:lnSpc>
                <a:spcPct val="100000"/>
              </a:lnSpc>
              <a:spcAft>
                <a:spcPts val="0"/>
              </a:spcAft>
            </a:pPr>
            <a:r>
              <a:rPr sz="1050">
                <a:solidFill>
                  <a:srgbClr val="000000"/>
                </a:solidFill>
                <a:latin typeface="Consolas"/>
              </a:rPr>
              <a:t>│ └────────┘ └──────────────────────────────┘  │</a:t>
            </a:r>
          </a:p>
          <a:p>
            <a:pPr>
              <a:lnSpc>
                <a:spcPct val="100000"/>
              </a:lnSpc>
              <a:spcAft>
                <a:spcPts val="0"/>
              </a:spcAft>
            </a:pPr>
            <a:r>
              <a:rPr sz="1050">
                <a:solidFill>
                  <a:srgbClr val="000000"/>
                </a:solidFill>
                <a:latin typeface="Consolas"/>
              </a:rPr>
              <a:t>└──────────────────────────────────────────────┘</a:t>
            </a:r>
          </a:p>
        </p:txBody>
      </p:sp>
      <p:sp>
        <p:nvSpPr>
          <p:cNvPr id="7" name="TextBox 6"/>
          <p:cNvSpPr txBox="1"/>
          <p:nvPr/>
        </p:nvSpPr>
        <p:spPr>
          <a:xfrm>
            <a:off x="6766560" y="1371600"/>
            <a:ext cx="4892040" cy="3840480"/>
          </a:xfrm>
          <a:prstGeom prst="rect">
            <a:avLst/>
          </a:prstGeom>
          <a:noFill/>
        </p:spPr>
        <p:txBody>
          <a:bodyPr wrap="square" lIns="0" rIns="0" tIns="0" bIns="0">
            <a:spAutoFit/>
          </a:bodyPr>
          <a:lstStyle/>
          <a:p>
            <a:pPr>
              <a:lnSpc>
                <a:spcPct val="102000"/>
              </a:lnSpc>
              <a:spcAft>
                <a:spcPts val="2400"/>
              </a:spcAft>
            </a:pPr>
            <a:r>
              <a:rPr sz="1700">
                <a:solidFill>
                  <a:srgbClr val="00CC00"/>
                </a:solidFill>
                <a:latin typeface="Calibri"/>
              </a:rPr>
              <a:t>▪  </a:t>
            </a:r>
            <a:r>
              <a:rPr sz="1700" b="1">
                <a:solidFill>
                  <a:srgbClr val="000000"/>
                </a:solidFill>
                <a:latin typeface="Calibri"/>
              </a:rPr>
              <a:t>A key-gated page</a:t>
            </a:r>
            <a:r>
              <a:rPr sz="1700" b="0">
                <a:solidFill>
                  <a:srgbClr val="000000"/>
                </a:solidFill>
                <a:latin typeface="Calibri"/>
              </a:rPr>
              <a:t>, not Streamlit</a:t>
            </a:r>
          </a:p>
          <a:p>
            <a:pPr>
              <a:lnSpc>
                <a:spcPct val="102000"/>
              </a:lnSpc>
              <a:spcAft>
                <a:spcPts val="2400"/>
              </a:spcAft>
            </a:pPr>
            <a:r>
              <a:rPr sz="1700">
                <a:solidFill>
                  <a:srgbClr val="00CC00"/>
                </a:solidFill>
                <a:latin typeface="Calibri"/>
              </a:rPr>
              <a:t>▪  </a:t>
            </a:r>
            <a:r>
              <a:rPr sz="1700" b="1">
                <a:solidFill>
                  <a:srgbClr val="000000"/>
                </a:solidFill>
                <a:latin typeface="Calibri"/>
              </a:rPr>
              <a:t>Used by:</a:t>
            </a:r>
            <a:r>
              <a:rPr sz="1700" b="0">
                <a:solidFill>
                  <a:srgbClr val="000000"/>
                </a:solidFill>
                <a:latin typeface="Calibri"/>
              </a:rPr>
              <a:t> FLP operations staff and engineers</a:t>
            </a:r>
          </a:p>
          <a:p>
            <a:pPr>
              <a:lnSpc>
                <a:spcPct val="102000"/>
              </a:lnSpc>
              <a:spcAft>
                <a:spcPts val="2400"/>
              </a:spcAft>
            </a:pPr>
            <a:r>
              <a:rPr sz="1700">
                <a:solidFill>
                  <a:srgbClr val="00CC00"/>
                </a:solidFill>
                <a:latin typeface="Calibri"/>
              </a:rPr>
              <a:t>▪  </a:t>
            </a:r>
            <a:r>
              <a:rPr sz="1700" b="1">
                <a:solidFill>
                  <a:srgbClr val="000000"/>
                </a:solidFill>
                <a:latin typeface="Calibri"/>
              </a:rPr>
              <a:t>Actions:</a:t>
            </a:r>
            <a:r>
              <a:rPr sz="1700" b="0">
                <a:solidFill>
                  <a:srgbClr val="000000"/>
                </a:solidFill>
                <a:latin typeface="Calibri"/>
              </a:rPr>
              <a:t> mute · force-listen · say text · edit entities</a:t>
            </a:r>
          </a:p>
        </p:txBody>
      </p:sp>
      <p:sp>
        <p:nvSpPr>
          <p:cNvPr id="8" name="TextBox 7"/>
          <p:cNvSpPr txBox="1"/>
          <p:nvPr/>
        </p:nvSpPr>
        <p:spPr>
          <a:xfrm>
            <a:off x="502920" y="5669280"/>
            <a:ext cx="11155680" cy="365760"/>
          </a:xfrm>
          <a:prstGeom prst="rect">
            <a:avLst/>
          </a:prstGeom>
          <a:noFill/>
        </p:spPr>
        <p:txBody>
          <a:bodyPr wrap="square" lIns="27432" rIns="27432" tIns="0" bIns="0">
            <a:spAutoFit/>
          </a:bodyPr>
          <a:lstStyle/>
          <a:p>
            <a:pPr algn="l">
              <a:lnSpc>
                <a:spcPct val="100000"/>
              </a:lnSpc>
              <a:spcAft>
                <a:spcPts val="400"/>
              </a:spcAft>
            </a:pPr>
            <a:r>
              <a:rPr sz="1200" b="0">
                <a:solidFill>
                  <a:srgbClr val="808080"/>
                </a:solidFill>
                <a:latin typeface="Calibri"/>
              </a:rPr>
              <a:t>Wireframe from source — not a screenshot.</a:t>
            </a:r>
          </a:p>
        </p:txBody>
      </p:sp>
      <p:sp>
        <p:nvSpPr>
          <p:cNvPr id="9" name="TextBox 8"/>
          <p:cNvSpPr txBox="1"/>
          <p:nvPr/>
        </p:nvSpPr>
        <p:spPr>
          <a:xfrm>
            <a:off x="502920" y="6455664"/>
            <a:ext cx="8229600" cy="274320"/>
          </a:xfrm>
          <a:prstGeom prst="rect">
            <a:avLst/>
          </a:prstGeom>
          <a:noFill/>
        </p:spPr>
        <p:txBody>
          <a:bodyPr wrap="square" lIns="27432" rIns="27432" tIns="0" bIns="0">
            <a:spAutoFit/>
          </a:bodyPr>
          <a:lstStyle/>
          <a:p>
            <a:pPr algn="l">
              <a:lnSpc>
                <a:spcPct val="100000"/>
              </a:lnSpc>
              <a:spcAft>
                <a:spcPts val="400"/>
              </a:spcAft>
            </a:pPr>
            <a:r>
              <a:rPr sz="850" b="0">
                <a:solidFill>
                  <a:srgbClr val="808080"/>
                </a:solidFill>
                <a:latin typeface="Calibri"/>
              </a:rPr>
              <a:t>Supervaise Inc. — CJAP handover · repo pi/deployment-snapshots @ 2545882 (2026-08-31)</a:t>
            </a:r>
          </a:p>
        </p:txBody>
      </p:sp>
      <p:sp>
        <p:nvSpPr>
          <p:cNvPr id="10" name="TextBox 9"/>
          <p:cNvSpPr txBox="1"/>
          <p:nvPr/>
        </p:nvSpPr>
        <p:spPr>
          <a:xfrm>
            <a:off x="11064240" y="6455664"/>
            <a:ext cx="685800" cy="274320"/>
          </a:xfrm>
          <a:prstGeom prst="rect">
            <a:avLst/>
          </a:prstGeom>
          <a:noFill/>
        </p:spPr>
        <p:txBody>
          <a:bodyPr wrap="square" lIns="27432" rIns="27432" tIns="0" bIns="0">
            <a:spAutoFit/>
          </a:bodyPr>
          <a:lstStyle/>
          <a:p>
            <a:pPr algn="r">
              <a:lnSpc>
                <a:spcPct val="100000"/>
              </a:lnSpc>
              <a:spcAft>
                <a:spcPts val="400"/>
              </a:spcAft>
            </a:pPr>
            <a:r>
              <a:rPr sz="900" b="0">
                <a:solidFill>
                  <a:srgbClr val="80808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02920" y="164592"/>
            <a:ext cx="10424160" cy="457200"/>
          </a:xfrm>
          <a:prstGeom prst="rect">
            <a:avLst/>
          </a:prstGeom>
          <a:noFill/>
        </p:spPr>
        <p:txBody>
          <a:bodyPr wrap="square" lIns="27432" rIns="27432" tIns="0" bIns="0">
            <a:spAutoFit/>
          </a:bodyPr>
          <a:lstStyle/>
          <a:p>
            <a:pPr algn="l">
              <a:lnSpc>
                <a:spcPct val="100000"/>
              </a:lnSpc>
              <a:spcAft>
                <a:spcPts val="400"/>
              </a:spcAft>
            </a:pPr>
            <a:r>
              <a:rPr sz="2700" b="1">
                <a:solidFill>
                  <a:srgbClr val="FFFFFF"/>
                </a:solidFill>
                <a:latin typeface="Calibri"/>
              </a:rPr>
              <a:t>Operations</a:t>
            </a:r>
          </a:p>
        </p:txBody>
      </p:sp>
      <p:sp>
        <p:nvSpPr>
          <p:cNvPr id="4" name="TextBox 3"/>
          <p:cNvSpPr txBox="1"/>
          <p:nvPr/>
        </p:nvSpPr>
        <p:spPr>
          <a:xfrm>
            <a:off x="502920" y="566928"/>
            <a:ext cx="10424160" cy="274320"/>
          </a:xfrm>
          <a:prstGeom prst="rect">
            <a:avLst/>
          </a:prstGeom>
          <a:noFill/>
        </p:spPr>
        <p:txBody>
          <a:bodyPr wrap="square" lIns="27432" rIns="27432" tIns="0" bIns="0">
            <a:spAutoFit/>
          </a:bodyPr>
          <a:lstStyle/>
          <a:p>
            <a:pPr algn="l">
              <a:lnSpc>
                <a:spcPct val="100000"/>
              </a:lnSpc>
              <a:spcAft>
                <a:spcPts val="400"/>
              </a:spcAft>
            </a:pPr>
            <a:r>
              <a:rPr sz="1150" b="0">
                <a:solidFill>
                  <a:srgbClr val="C8E6C8"/>
                </a:solidFill>
                <a:latin typeface="Calibri"/>
              </a:rPr>
              <a:t>Start · run · shut down</a:t>
            </a:r>
          </a:p>
        </p:txBody>
      </p:sp>
      <p:sp>
        <p:nvSpPr>
          <p:cNvPr id="5" name="Rectangle 4"/>
          <p:cNvSpPr/>
          <p:nvPr/>
        </p:nvSpPr>
        <p:spPr>
          <a:xfrm>
            <a:off x="0" y="841248"/>
            <a:ext cx="12191695" cy="41148"/>
          </a:xfrm>
          <a:prstGeom prst="rect">
            <a:avLst/>
          </a:prstGeom>
          <a:solidFill>
            <a:srgbClr val="00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640080" y="1371600"/>
            <a:ext cx="5394960" cy="4206240"/>
          </a:xfrm>
          <a:prstGeom prst="rect">
            <a:avLst/>
          </a:prstGeom>
          <a:noFill/>
        </p:spPr>
        <p:txBody>
          <a:bodyPr wrap="square" lIns="0" rIns="0" tIns="0" bIns="0">
            <a:spAutoFit/>
          </a:bodyPr>
          <a:lstStyle/>
          <a:p>
            <a:pPr>
              <a:lnSpc>
                <a:spcPct val="102000"/>
              </a:lnSpc>
              <a:spcAft>
                <a:spcPts val="2400"/>
              </a:spcAft>
            </a:pPr>
            <a:r>
              <a:rPr sz="1800">
                <a:solidFill>
                  <a:srgbClr val="00CC00"/>
                </a:solidFill>
                <a:latin typeface="Calibri"/>
              </a:rPr>
              <a:t>▪  </a:t>
            </a:r>
            <a:r>
              <a:rPr sz="1800" b="1">
                <a:solidFill>
                  <a:srgbClr val="000000"/>
                </a:solidFill>
                <a:latin typeface="Calibri"/>
              </a:rPr>
              <a:t>Start:</a:t>
            </a:r>
            <a:r>
              <a:rPr sz="1800" b="0">
                <a:solidFill>
                  <a:srgbClr val="000000"/>
                </a:solidFill>
                <a:latin typeface="Calibri"/>
              </a:rPr>
              <a:t> run the health check</a:t>
            </a:r>
          </a:p>
          <a:p>
            <a:pPr>
              <a:lnSpc>
                <a:spcPct val="102000"/>
              </a:lnSpc>
              <a:spcAft>
                <a:spcPts val="2400"/>
              </a:spcAft>
            </a:pPr>
            <a:r>
              <a:rPr sz="1800">
                <a:solidFill>
                  <a:srgbClr val="00CC00"/>
                </a:solidFill>
                <a:latin typeface="Calibri"/>
              </a:rPr>
              <a:t>▪  </a:t>
            </a:r>
            <a:r>
              <a:rPr sz="1800" b="1">
                <a:solidFill>
                  <a:srgbClr val="000000"/>
                </a:solidFill>
                <a:latin typeface="Calibri"/>
              </a:rPr>
              <a:t>26 checks</a:t>
            </a:r>
            <a:r>
              <a:rPr sz="1800" b="0">
                <a:solidFill>
                  <a:srgbClr val="000000"/>
                </a:solidFill>
                <a:latin typeface="Calibri"/>
              </a:rPr>
              <a:t>, one pass line</a:t>
            </a:r>
          </a:p>
          <a:p>
            <a:pPr>
              <a:lnSpc>
                <a:spcPct val="102000"/>
              </a:lnSpc>
              <a:spcAft>
                <a:spcPts val="2400"/>
              </a:spcAft>
            </a:pPr>
            <a:r>
              <a:rPr sz="1800">
                <a:solidFill>
                  <a:srgbClr val="00CC00"/>
                </a:solidFill>
                <a:latin typeface="Calibri"/>
              </a:rPr>
              <a:t>▪  </a:t>
            </a:r>
            <a:r>
              <a:rPr sz="1800" b="1">
                <a:solidFill>
                  <a:srgbClr val="000000"/>
                </a:solidFill>
                <a:latin typeface="Calibri"/>
              </a:rPr>
              <a:t>Run:</a:t>
            </a:r>
            <a:r>
              <a:rPr sz="1800" b="0">
                <a:solidFill>
                  <a:srgbClr val="000000"/>
                </a:solidFill>
                <a:latin typeface="Calibri"/>
              </a:rPr>
              <a:t> /maintain</a:t>
            </a:r>
          </a:p>
          <a:p>
            <a:pPr>
              <a:lnSpc>
                <a:spcPct val="102000"/>
              </a:lnSpc>
              <a:spcAft>
                <a:spcPts val="2400"/>
              </a:spcAft>
            </a:pPr>
            <a:r>
              <a:rPr sz="1800">
                <a:solidFill>
                  <a:srgbClr val="00CC00"/>
                </a:solidFill>
                <a:latin typeface="Calibri"/>
              </a:rPr>
              <a:t>▪  </a:t>
            </a:r>
            <a:r>
              <a:rPr sz="1800" b="1">
                <a:solidFill>
                  <a:srgbClr val="000000"/>
                </a:solidFill>
                <a:latin typeface="Calibri"/>
              </a:rPr>
              <a:t>Shut down:</a:t>
            </a:r>
            <a:r>
              <a:rPr sz="1800" b="0">
                <a:solidFill>
                  <a:srgbClr val="000000"/>
                </a:solidFill>
                <a:latin typeface="Calibri"/>
              </a:rPr>
              <a:t> stop services, power off</a:t>
            </a:r>
          </a:p>
        </p:txBody>
      </p:sp>
      <p:sp>
        <p:nvSpPr>
          <p:cNvPr id="7" name="Rectangle 6"/>
          <p:cNvSpPr/>
          <p:nvPr/>
        </p:nvSpPr>
        <p:spPr>
          <a:xfrm>
            <a:off x="6400800" y="1280160"/>
            <a:ext cx="5257800" cy="1371600"/>
          </a:xfrm>
          <a:prstGeom prst="rect">
            <a:avLst/>
          </a:prstGeom>
          <a:solidFill>
            <a:srgbClr val="F7F7F7"/>
          </a:solidFill>
          <a:ln w="1587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73152" bIns="73152"/>
          <a:lstStyle/>
          <a:p>
            <a:pPr algn="ctr">
              <a:lnSpc>
                <a:spcPct val="100000"/>
              </a:lnSpc>
              <a:spcAft>
                <a:spcPts val="0"/>
              </a:spcAft>
            </a:pPr>
            <a:r>
              <a:rPr sz="1200">
                <a:solidFill>
                  <a:srgbClr val="000000"/>
                </a:solidFill>
                <a:latin typeface="Consolas"/>
              </a:rPr>
              <a:t>$ ~/bin/verify.sh</a:t>
            </a:r>
          </a:p>
          <a:p>
            <a:pPr>
              <a:lnSpc>
                <a:spcPct val="100000"/>
              </a:lnSpc>
              <a:spcAft>
                <a:spcPts val="0"/>
              </a:spcAft>
            </a:pPr>
            <a:r>
              <a:rPr sz="1200">
                <a:solidFill>
                  <a:srgbClr val="000000"/>
                </a:solidFill>
                <a:latin typeface="Consolas"/>
              </a:rPr>
              <a:t/>
            </a:r>
          </a:p>
          <a:p>
            <a:pPr>
              <a:lnSpc>
                <a:spcPct val="100000"/>
              </a:lnSpc>
              <a:spcAft>
                <a:spcPts val="0"/>
              </a:spcAft>
            </a:pPr>
            <a:r>
              <a:rPr sz="1200">
                <a:solidFill>
                  <a:srgbClr val="000000"/>
                </a:solidFill>
                <a:latin typeface="Consolas"/>
              </a:rPr>
              <a:t>ALL CHECKS PASSED — say "Hi Cee-Jap"</a:t>
            </a:r>
          </a:p>
          <a:p>
            <a:pPr>
              <a:lnSpc>
                <a:spcPct val="100000"/>
              </a:lnSpc>
              <a:spcAft>
                <a:spcPts val="0"/>
              </a:spcAft>
            </a:pPr>
            <a:r>
              <a:rPr sz="1200">
                <a:solidFill>
                  <a:srgbClr val="000000"/>
                </a:solidFill>
                <a:latin typeface="Consolas"/>
              </a:rPr>
              <a:t>                     to the robot.</a:t>
            </a:r>
          </a:p>
        </p:txBody>
      </p:sp>
      <p:sp>
        <p:nvSpPr>
          <p:cNvPr id="8" name="Rectangle 7"/>
          <p:cNvSpPr/>
          <p:nvPr/>
        </p:nvSpPr>
        <p:spPr>
          <a:xfrm>
            <a:off x="6400800" y="2926080"/>
            <a:ext cx="5257800" cy="868680"/>
          </a:xfrm>
          <a:prstGeom prst="rect">
            <a:avLst/>
          </a:prstGeom>
          <a:solidFill>
            <a:srgbClr val="F7F7F7"/>
          </a:solidFill>
          <a:ln w="1587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73152" bIns="73152"/>
          <a:lstStyle/>
          <a:p>
            <a:pPr algn="ctr">
              <a:lnSpc>
                <a:spcPct val="100000"/>
              </a:lnSpc>
              <a:spcAft>
                <a:spcPts val="0"/>
              </a:spcAft>
            </a:pPr>
            <a:r>
              <a:rPr sz="1200">
                <a:solidFill>
                  <a:srgbClr val="000000"/>
                </a:solidFill>
                <a:latin typeface="Consolas"/>
              </a:rPr>
              <a:t>$ sudo systemctl stop \</a:t>
            </a:r>
          </a:p>
          <a:p>
            <a:pPr>
              <a:lnSpc>
                <a:spcPct val="100000"/>
              </a:lnSpc>
              <a:spcAft>
                <a:spcPts val="0"/>
              </a:spcAft>
            </a:pPr>
            <a:r>
              <a:rPr sz="1200">
                <a:solidFill>
                  <a:srgbClr val="000000"/>
                </a:solidFill>
                <a:latin typeface="Consolas"/>
              </a:rPr>
              <a:t>      supervaise pi-dashboard</a:t>
            </a:r>
          </a:p>
        </p:txBody>
      </p:sp>
      <p:sp>
        <p:nvSpPr>
          <p:cNvPr id="9" name="Rectangle 8"/>
          <p:cNvSpPr/>
          <p:nvPr/>
        </p:nvSpPr>
        <p:spPr>
          <a:xfrm>
            <a:off x="6400800" y="4069080"/>
            <a:ext cx="5257800" cy="1737360"/>
          </a:xfrm>
          <a:prstGeom prst="rect">
            <a:avLst/>
          </a:prstGeom>
          <a:solidFill>
            <a:srgbClr val="FFF4CC"/>
          </a:solidFill>
          <a:ln w="158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lnSpc>
                <a:spcPct val="102000"/>
              </a:lnSpc>
              <a:spcAft>
                <a:spcPts val="500"/>
              </a:spcAft>
            </a:pPr>
            <a:r>
              <a:rPr sz="1500" b="1">
                <a:solidFill>
                  <a:srgbClr val="000000"/>
                </a:solidFill>
                <a:latin typeface="Calibri"/>
              </a:rPr>
              <a:t>Never:</a:t>
            </a:r>
            <a:r>
              <a:rPr sz="1500" b="0">
                <a:solidFill>
                  <a:srgbClr val="000000"/>
                </a:solidFill>
                <a:latin typeface="Calibri"/>
              </a:rPr>
              <a:t> share keys · edit the corpus · run offline.</a:t>
            </a:r>
          </a:p>
          <a:p>
            <a:pPr>
              <a:lnSpc>
                <a:spcPct val="102000"/>
              </a:lnSpc>
              <a:spcAft>
                <a:spcPts val="500"/>
              </a:spcAft>
            </a:pPr>
            <a:r>
              <a:rPr sz="1500" b="1">
                <a:solidFill>
                  <a:srgbClr val="000000"/>
                </a:solidFill>
                <a:latin typeface="Calibri"/>
              </a:rPr>
              <a:t>[TO CONFIRM: power-off sequence | Pao]</a:t>
            </a:r>
          </a:p>
        </p:txBody>
      </p:sp>
      <p:sp>
        <p:nvSpPr>
          <p:cNvPr id="10" name="TextBox 9"/>
          <p:cNvSpPr txBox="1"/>
          <p:nvPr/>
        </p:nvSpPr>
        <p:spPr>
          <a:xfrm>
            <a:off x="502920" y="6455664"/>
            <a:ext cx="8229600" cy="274320"/>
          </a:xfrm>
          <a:prstGeom prst="rect">
            <a:avLst/>
          </a:prstGeom>
          <a:noFill/>
        </p:spPr>
        <p:txBody>
          <a:bodyPr wrap="square" lIns="27432" rIns="27432" tIns="0" bIns="0">
            <a:spAutoFit/>
          </a:bodyPr>
          <a:lstStyle/>
          <a:p>
            <a:pPr algn="l">
              <a:lnSpc>
                <a:spcPct val="100000"/>
              </a:lnSpc>
              <a:spcAft>
                <a:spcPts val="400"/>
              </a:spcAft>
            </a:pPr>
            <a:r>
              <a:rPr sz="850" b="0">
                <a:solidFill>
                  <a:srgbClr val="808080"/>
                </a:solidFill>
                <a:latin typeface="Calibri"/>
              </a:rPr>
              <a:t>Supervaise Inc. — CJAP handover · repo pi/deployment-snapshots @ 2545882 (2026-08-31)</a:t>
            </a:r>
          </a:p>
        </p:txBody>
      </p:sp>
      <p:sp>
        <p:nvSpPr>
          <p:cNvPr id="11" name="TextBox 10"/>
          <p:cNvSpPr txBox="1"/>
          <p:nvPr/>
        </p:nvSpPr>
        <p:spPr>
          <a:xfrm>
            <a:off x="11064240" y="6455664"/>
            <a:ext cx="685800" cy="274320"/>
          </a:xfrm>
          <a:prstGeom prst="rect">
            <a:avLst/>
          </a:prstGeom>
          <a:noFill/>
        </p:spPr>
        <p:txBody>
          <a:bodyPr wrap="square" lIns="27432" rIns="27432" tIns="0" bIns="0">
            <a:spAutoFit/>
          </a:bodyPr>
          <a:lstStyle/>
          <a:p>
            <a:pPr algn="r">
              <a:lnSpc>
                <a:spcPct val="100000"/>
              </a:lnSpc>
              <a:spcAft>
                <a:spcPts val="400"/>
              </a:spcAft>
            </a:pPr>
            <a:r>
              <a:rPr sz="900" b="0">
                <a:solidFill>
                  <a:srgbClr val="80808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02920" y="164592"/>
            <a:ext cx="10424160" cy="457200"/>
          </a:xfrm>
          <a:prstGeom prst="rect">
            <a:avLst/>
          </a:prstGeom>
          <a:noFill/>
        </p:spPr>
        <p:txBody>
          <a:bodyPr wrap="square" lIns="27432" rIns="27432" tIns="0" bIns="0">
            <a:spAutoFit/>
          </a:bodyPr>
          <a:lstStyle/>
          <a:p>
            <a:pPr algn="l">
              <a:lnSpc>
                <a:spcPct val="100000"/>
              </a:lnSpc>
              <a:spcAft>
                <a:spcPts val="400"/>
              </a:spcAft>
            </a:pPr>
            <a:r>
              <a:rPr sz="2700" b="1">
                <a:solidFill>
                  <a:srgbClr val="FFFFFF"/>
                </a:solidFill>
                <a:latin typeface="Calibri"/>
              </a:rPr>
              <a:t>Troubleshooting</a:t>
            </a:r>
          </a:p>
        </p:txBody>
      </p:sp>
      <p:sp>
        <p:nvSpPr>
          <p:cNvPr id="4" name="TextBox 3"/>
          <p:cNvSpPr txBox="1"/>
          <p:nvPr/>
        </p:nvSpPr>
        <p:spPr>
          <a:xfrm>
            <a:off x="502920" y="566928"/>
            <a:ext cx="10424160" cy="274320"/>
          </a:xfrm>
          <a:prstGeom prst="rect">
            <a:avLst/>
          </a:prstGeom>
          <a:noFill/>
        </p:spPr>
        <p:txBody>
          <a:bodyPr wrap="square" lIns="27432" rIns="27432" tIns="0" bIns="0">
            <a:spAutoFit/>
          </a:bodyPr>
          <a:lstStyle/>
          <a:p>
            <a:pPr algn="l">
              <a:lnSpc>
                <a:spcPct val="100000"/>
              </a:lnSpc>
              <a:spcAft>
                <a:spcPts val="400"/>
              </a:spcAft>
            </a:pPr>
            <a:r>
              <a:rPr sz="1150" b="0">
                <a:solidFill>
                  <a:srgbClr val="C8E6C8"/>
                </a:solidFill>
                <a:latin typeface="Calibri"/>
              </a:rPr>
              <a:t>The five faults an operator will actually meet</a:t>
            </a:r>
          </a:p>
        </p:txBody>
      </p:sp>
      <p:sp>
        <p:nvSpPr>
          <p:cNvPr id="5" name="Rectangle 4"/>
          <p:cNvSpPr/>
          <p:nvPr/>
        </p:nvSpPr>
        <p:spPr>
          <a:xfrm>
            <a:off x="0" y="841248"/>
            <a:ext cx="12191695" cy="41148"/>
          </a:xfrm>
          <a:prstGeom prst="rect">
            <a:avLst/>
          </a:prstGeom>
          <a:solidFill>
            <a:srgbClr val="00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graphicFrame>
        <p:nvGraphicFramePr>
          <p:cNvPr id="6" name="Table 5"/>
          <p:cNvGraphicFramePr>
            <a:graphicFrameLocks noGrp="1"/>
          </p:cNvGraphicFramePr>
          <p:nvPr/>
        </p:nvGraphicFramePr>
        <p:xfrm>
          <a:off x="502920" y="1143000"/>
          <a:ext cx="11155680" cy="1792224"/>
        </p:xfrm>
        <a:graphic>
          <a:graphicData uri="http://schemas.openxmlformats.org/drawingml/2006/table">
            <a:tbl>
              <a:tblPr firstRow="1" bandRow="1">
                <a:tableStyleId>{5C22544A-7EE6-4342-B048-85BDC9FD1C3A}</a:tableStyleId>
              </a:tblPr>
              <a:tblGrid>
                <a:gridCol w="2286000"/>
                <a:gridCol w="2926080"/>
                <a:gridCol w="3200400"/>
                <a:gridCol w="2743200"/>
              </a:tblGrid>
              <a:tr h="329184">
                <a:tc>
                  <a:txBody>
                    <a:bodyPr wrap="square"/>
                    <a:lstStyle/>
                    <a:p>
                      <a:pPr>
                        <a:lnSpc>
                          <a:spcPct val="95000"/>
                        </a:lnSpc>
                        <a:spcAft>
                          <a:spcPts val="0"/>
                        </a:spcAft>
                      </a:pPr>
                      <a:r>
                        <a:rPr sz="1150" b="1">
                          <a:solidFill>
                            <a:srgbClr val="FFFFFF"/>
                          </a:solidFill>
                          <a:latin typeface="Calibri"/>
                        </a:rPr>
                        <a:t>Symptom</a:t>
                      </a:r>
                    </a:p>
                  </a:txBody>
                  <a:tcPr marL="64008" marR="64008" marT="18288" marB="18288" anchor="ctr">
                    <a:solidFill>
                      <a:srgbClr val="2D2D2D"/>
                    </a:solidFill>
                  </a:tcPr>
                </a:tc>
                <a:tc>
                  <a:txBody>
                    <a:bodyPr wrap="square"/>
                    <a:lstStyle/>
                    <a:p>
                      <a:pPr>
                        <a:lnSpc>
                          <a:spcPct val="95000"/>
                        </a:lnSpc>
                        <a:spcAft>
                          <a:spcPts val="0"/>
                        </a:spcAft>
                      </a:pPr>
                      <a:r>
                        <a:rPr sz="1150" b="1">
                          <a:solidFill>
                            <a:srgbClr val="FFFFFF"/>
                          </a:solidFill>
                          <a:latin typeface="Calibri"/>
                        </a:rPr>
                        <a:t>Likely cause</a:t>
                      </a:r>
                    </a:p>
                  </a:txBody>
                  <a:tcPr marL="64008" marR="64008" marT="18288" marB="18288" anchor="ctr">
                    <a:solidFill>
                      <a:srgbClr val="2D2D2D"/>
                    </a:solidFill>
                  </a:tcPr>
                </a:tc>
                <a:tc>
                  <a:txBody>
                    <a:bodyPr wrap="square"/>
                    <a:lstStyle/>
                    <a:p>
                      <a:pPr>
                        <a:lnSpc>
                          <a:spcPct val="95000"/>
                        </a:lnSpc>
                        <a:spcAft>
                          <a:spcPts val="0"/>
                        </a:spcAft>
                      </a:pPr>
                      <a:r>
                        <a:rPr sz="1150" b="1">
                          <a:solidFill>
                            <a:srgbClr val="FFFFFF"/>
                          </a:solidFill>
                          <a:latin typeface="Calibri"/>
                        </a:rPr>
                        <a:t>Fix</a:t>
                      </a:r>
                    </a:p>
                  </a:txBody>
                  <a:tcPr marL="64008" marR="64008" marT="18288" marB="18288" anchor="ctr">
                    <a:solidFill>
                      <a:srgbClr val="2D2D2D"/>
                    </a:solidFill>
                  </a:tcPr>
                </a:tc>
                <a:tc>
                  <a:txBody>
                    <a:bodyPr wrap="square"/>
                    <a:lstStyle/>
                    <a:p>
                      <a:pPr>
                        <a:lnSpc>
                          <a:spcPct val="95000"/>
                        </a:lnSpc>
                        <a:spcAft>
                          <a:spcPts val="0"/>
                        </a:spcAft>
                      </a:pPr>
                      <a:r>
                        <a:rPr sz="1150" b="1">
                          <a:solidFill>
                            <a:srgbClr val="FFFFFF"/>
                          </a:solidFill>
                          <a:latin typeface="Calibri"/>
                        </a:rPr>
                        <a:t>Escalate if</a:t>
                      </a:r>
                    </a:p>
                  </a:txBody>
                  <a:tcPr marL="64008" marR="64008" marT="18288" marB="18288" anchor="ctr">
                    <a:solidFill>
                      <a:srgbClr val="2D2D2D"/>
                    </a:solidFill>
                  </a:tcPr>
                </a:tc>
              </a:tr>
              <a:tr h="292608">
                <a:tc>
                  <a:txBody>
                    <a:bodyPr wrap="square"/>
                    <a:lstStyle/>
                    <a:p>
                      <a:pPr>
                        <a:lnSpc>
                          <a:spcPct val="95000"/>
                        </a:lnSpc>
                        <a:spcAft>
                          <a:spcPts val="0"/>
                        </a:spcAft>
                      </a:pPr>
                      <a:r>
                        <a:rPr sz="1100" b="0">
                          <a:solidFill>
                            <a:srgbClr val="000000"/>
                          </a:solidFill>
                          <a:latin typeface="Calibri"/>
                        </a:rPr>
                        <a:t>Robot does not wake</a:t>
                      </a:r>
                    </a:p>
                  </a:txBody>
                  <a:tcPr marL="64008" marR="64008" marT="18288" marB="18288" anchor="ctr">
                    <a:solidFill>
                      <a:srgbClr val="FFFFFF"/>
                    </a:solidFill>
                  </a:tcPr>
                </a:tc>
                <a:tc>
                  <a:txBody>
                    <a:bodyPr wrap="square"/>
                    <a:lstStyle/>
                    <a:p>
                      <a:pPr>
                        <a:lnSpc>
                          <a:spcPct val="95000"/>
                        </a:lnSpc>
                        <a:spcAft>
                          <a:spcPts val="0"/>
                        </a:spcAft>
                      </a:pPr>
                      <a:r>
                        <a:rPr sz="1100" b="0">
                          <a:solidFill>
                            <a:srgbClr val="000000"/>
                          </a:solidFill>
                          <a:latin typeface="Calibri"/>
                        </a:rPr>
                        <a:t>Mic sensitivity, or wake model not resident</a:t>
                      </a:r>
                    </a:p>
                  </a:txBody>
                  <a:tcPr marL="64008" marR="64008" marT="18288" marB="18288" anchor="ctr">
                    <a:solidFill>
                      <a:srgbClr val="FFFFFF"/>
                    </a:solidFill>
                  </a:tcPr>
                </a:tc>
                <a:tc>
                  <a:txBody>
                    <a:bodyPr wrap="square"/>
                    <a:lstStyle/>
                    <a:p>
                      <a:pPr>
                        <a:lnSpc>
                          <a:spcPct val="95000"/>
                        </a:lnSpc>
                        <a:spcAft>
                          <a:spcPts val="0"/>
                        </a:spcAft>
                      </a:pPr>
                      <a:r>
                        <a:rPr sz="1100" b="0">
                          <a:solidFill>
                            <a:srgbClr val="000000"/>
                          </a:solidFill>
                          <a:latin typeface="Calibri"/>
                        </a:rPr>
                        <a:t>Check the wake meter on /maintain; re-run verify.sh</a:t>
                      </a:r>
                    </a:p>
                  </a:txBody>
                  <a:tcPr marL="64008" marR="64008" marT="18288" marB="18288" anchor="ctr">
                    <a:solidFill>
                      <a:srgbClr val="FFFFFF"/>
                    </a:solidFill>
                  </a:tcPr>
                </a:tc>
                <a:tc>
                  <a:txBody>
                    <a:bodyPr wrap="square"/>
                    <a:lstStyle/>
                    <a:p>
                      <a:pPr>
                        <a:lnSpc>
                          <a:spcPct val="95000"/>
                        </a:lnSpc>
                        <a:spcAft>
                          <a:spcPts val="0"/>
                        </a:spcAft>
                      </a:pPr>
                      <a:r>
                        <a:rPr sz="1100" b="0">
                          <a:solidFill>
                            <a:srgbClr val="000000"/>
                          </a:solidFill>
                          <a:latin typeface="Calibri"/>
                        </a:rPr>
                        <a:t>Three speakers fail at 1 m</a:t>
                      </a:r>
                    </a:p>
                  </a:txBody>
                  <a:tcPr marL="64008" marR="64008" marT="18288" marB="18288" anchor="ctr">
                    <a:solidFill>
                      <a:srgbClr val="FFFFFF"/>
                    </a:solidFill>
                  </a:tcPr>
                </a:tc>
              </a:tr>
              <a:tr h="292608">
                <a:tc>
                  <a:txBody>
                    <a:bodyPr wrap="square"/>
                    <a:lstStyle/>
                    <a:p>
                      <a:pPr>
                        <a:lnSpc>
                          <a:spcPct val="95000"/>
                        </a:lnSpc>
                        <a:spcAft>
                          <a:spcPts val="0"/>
                        </a:spcAft>
                      </a:pPr>
                      <a:r>
                        <a:rPr sz="1100" b="0">
                          <a:solidFill>
                            <a:srgbClr val="000000"/>
                          </a:solidFill>
                          <a:latin typeface="Calibri"/>
                        </a:rPr>
                        <a:t>Wakes at the wrong moment</a:t>
                      </a:r>
                    </a:p>
                  </a:txBody>
                  <a:tcPr marL="64008" marR="64008" marT="18288" marB="18288" anchor="ctr">
                    <a:solidFill>
                      <a:srgbClr val="F2F2F2"/>
                    </a:solidFill>
                  </a:tcPr>
                </a:tc>
                <a:tc>
                  <a:txBody>
                    <a:bodyPr wrap="square"/>
                    <a:lstStyle/>
                    <a:p>
                      <a:pPr>
                        <a:lnSpc>
                          <a:spcPct val="95000"/>
                        </a:lnSpc>
                        <a:spcAft>
                          <a:spcPts val="0"/>
                        </a:spcAft>
                      </a:pPr>
                      <a:r>
                        <a:rPr sz="1100" b="0">
                          <a:solidFill>
                            <a:srgbClr val="000000"/>
                          </a:solidFill>
                          <a:latin typeface="Calibri"/>
                        </a:rPr>
                        <a:t>Threshold is low; “chief justice” can trigger it</a:t>
                      </a:r>
                    </a:p>
                  </a:txBody>
                  <a:tcPr marL="64008" marR="64008" marT="18288" marB="18288" anchor="ctr">
                    <a:solidFill>
                      <a:srgbClr val="F2F2F2"/>
                    </a:solidFill>
                  </a:tcPr>
                </a:tc>
                <a:tc>
                  <a:txBody>
                    <a:bodyPr wrap="square"/>
                    <a:lstStyle/>
                    <a:p>
                      <a:pPr>
                        <a:lnSpc>
                          <a:spcPct val="95000"/>
                        </a:lnSpc>
                        <a:spcAft>
                          <a:spcPts val="0"/>
                        </a:spcAft>
                      </a:pPr>
                      <a:r>
                        <a:rPr sz="1100" b="0">
                          <a:solidFill>
                            <a:srgbClr val="000000"/>
                          </a:solidFill>
                          <a:latin typeface="Calibri"/>
                        </a:rPr>
                        <a:t>Raise CJ_WAKE_OWW_THRESHOLD toward 0.4</a:t>
                      </a:r>
                    </a:p>
                  </a:txBody>
                  <a:tcPr marL="64008" marR="64008" marT="18288" marB="18288" anchor="ctr">
                    <a:solidFill>
                      <a:srgbClr val="F2F2F2"/>
                    </a:solidFill>
                  </a:tcPr>
                </a:tc>
                <a:tc>
                  <a:txBody>
                    <a:bodyPr wrap="square"/>
                    <a:lstStyle/>
                    <a:p>
                      <a:pPr>
                        <a:lnSpc>
                          <a:spcPct val="95000"/>
                        </a:lnSpc>
                        <a:spcAft>
                          <a:spcPts val="0"/>
                        </a:spcAft>
                      </a:pPr>
                      <a:r>
                        <a:rPr sz="1100" b="0">
                          <a:solidFill>
                            <a:srgbClr val="000000"/>
                          </a:solidFill>
                          <a:latin typeface="Calibri"/>
                        </a:rPr>
                        <a:t>Raising it starts causing missed wakes</a:t>
                      </a:r>
                    </a:p>
                  </a:txBody>
                  <a:tcPr marL="64008" marR="64008" marT="18288" marB="18288" anchor="ctr">
                    <a:solidFill>
                      <a:srgbClr val="F2F2F2"/>
                    </a:solidFill>
                  </a:tcPr>
                </a:tc>
              </a:tr>
              <a:tr h="292608">
                <a:tc>
                  <a:txBody>
                    <a:bodyPr wrap="square"/>
                    <a:lstStyle/>
                    <a:p>
                      <a:pPr>
                        <a:lnSpc>
                          <a:spcPct val="95000"/>
                        </a:lnSpc>
                        <a:spcAft>
                          <a:spcPts val="0"/>
                        </a:spcAft>
                      </a:pPr>
                      <a:r>
                        <a:rPr sz="1100" b="0">
                          <a:solidFill>
                            <a:srgbClr val="000000"/>
                          </a:solidFill>
                          <a:latin typeface="Calibri"/>
                        </a:rPr>
                        <a:t>Stops itself mid-answer</a:t>
                      </a:r>
                    </a:p>
                  </a:txBody>
                  <a:tcPr marL="64008" marR="64008" marT="18288" marB="18288" anchor="ctr">
                    <a:solidFill>
                      <a:srgbClr val="FFFFFF"/>
                    </a:solidFill>
                  </a:tcPr>
                </a:tc>
                <a:tc>
                  <a:txBody>
                    <a:bodyPr wrap="square"/>
                    <a:lstStyle/>
                    <a:p>
                      <a:pPr>
                        <a:lnSpc>
                          <a:spcPct val="95000"/>
                        </a:lnSpc>
                        <a:spcAft>
                          <a:spcPts val="0"/>
                        </a:spcAft>
                      </a:pPr>
                      <a:r>
                        <a:rPr sz="1100" b="0">
                          <a:solidFill>
                            <a:srgbClr val="000000"/>
                          </a:solidFill>
                          <a:latin typeface="Calibri"/>
                        </a:rPr>
                        <a:t>Mic hears the speaker; Bluetooth has no echo cancellation</a:t>
                      </a:r>
                    </a:p>
                  </a:txBody>
                  <a:tcPr marL="64008" marR="64008" marT="18288" marB="18288" anchor="ctr">
                    <a:solidFill>
                      <a:srgbClr val="FFFFFF"/>
                    </a:solidFill>
                  </a:tcPr>
                </a:tc>
                <a:tc>
                  <a:txBody>
                    <a:bodyPr wrap="square"/>
                    <a:lstStyle/>
                    <a:p>
                      <a:pPr>
                        <a:lnSpc>
                          <a:spcPct val="95000"/>
                        </a:lnSpc>
                        <a:spcAft>
                          <a:spcPts val="0"/>
                        </a:spcAft>
                      </a:pPr>
                      <a:r>
                        <a:rPr sz="1100" b="0">
                          <a:solidFill>
                            <a:srgbClr val="000000"/>
                          </a:solidFill>
                          <a:latin typeface="Calibri"/>
                        </a:rPr>
                        <a:t>Raise CJ_STOP_OWW_THRESHOLD, or disable the stop word</a:t>
                      </a:r>
                    </a:p>
                  </a:txBody>
                  <a:tcPr marL="64008" marR="64008" marT="18288" marB="18288" anchor="ctr">
                    <a:solidFill>
                      <a:srgbClr val="FFFFFF"/>
                    </a:solidFill>
                  </a:tcPr>
                </a:tc>
                <a:tc>
                  <a:txBody>
                    <a:bodyPr wrap="square"/>
                    <a:lstStyle/>
                    <a:p>
                      <a:pPr>
                        <a:lnSpc>
                          <a:spcPct val="95000"/>
                        </a:lnSpc>
                        <a:spcAft>
                          <a:spcPts val="0"/>
                        </a:spcAft>
                      </a:pPr>
                      <a:r>
                        <a:rPr sz="1100" b="0">
                          <a:solidFill>
                            <a:srgbClr val="000000"/>
                          </a:solidFill>
                          <a:latin typeface="Calibri"/>
                        </a:rPr>
                        <a:t>It happens on the internal speaker</a:t>
                      </a:r>
                    </a:p>
                  </a:txBody>
                  <a:tcPr marL="64008" marR="64008" marT="18288" marB="18288" anchor="ctr">
                    <a:solidFill>
                      <a:srgbClr val="FFFFFF"/>
                    </a:solidFill>
                  </a:tcPr>
                </a:tc>
              </a:tr>
              <a:tr h="292608">
                <a:tc>
                  <a:txBody>
                    <a:bodyPr wrap="square"/>
                    <a:lstStyle/>
                    <a:p>
                      <a:pPr>
                        <a:lnSpc>
                          <a:spcPct val="95000"/>
                        </a:lnSpc>
                        <a:spcAft>
                          <a:spcPts val="0"/>
                        </a:spcAft>
                      </a:pPr>
                      <a:r>
                        <a:rPr sz="1100" b="0">
                          <a:solidFill>
                            <a:srgbClr val="000000"/>
                          </a:solidFill>
                          <a:latin typeface="Calibri"/>
                        </a:rPr>
                        <a:t>Answers but no sound</a:t>
                      </a:r>
                    </a:p>
                  </a:txBody>
                  <a:tcPr marL="64008" marR="64008" marT="18288" marB="18288" anchor="ctr">
                    <a:solidFill>
                      <a:srgbClr val="F2F2F2"/>
                    </a:solidFill>
                  </a:tcPr>
                </a:tc>
                <a:tc>
                  <a:txBody>
                    <a:bodyPr wrap="square"/>
                    <a:lstStyle/>
                    <a:p>
                      <a:pPr>
                        <a:lnSpc>
                          <a:spcPct val="95000"/>
                        </a:lnSpc>
                        <a:spcAft>
                          <a:spcPts val="0"/>
                        </a:spcAft>
                      </a:pPr>
                      <a:r>
                        <a:rPr sz="1100" b="0">
                          <a:solidFill>
                            <a:srgbClr val="000000"/>
                          </a:solidFill>
                          <a:latin typeface="Calibri"/>
                        </a:rPr>
                        <a:t>Bluetooth dropped, or audio routing overwritten</a:t>
                      </a:r>
                    </a:p>
                  </a:txBody>
                  <a:tcPr marL="64008" marR="64008" marT="18288" marB="18288" anchor="ctr">
                    <a:solidFill>
                      <a:srgbClr val="F2F2F2"/>
                    </a:solidFill>
                  </a:tcPr>
                </a:tc>
                <a:tc>
                  <a:txBody>
                    <a:bodyPr wrap="square"/>
                    <a:lstStyle/>
                    <a:p>
                      <a:pPr>
                        <a:lnSpc>
                          <a:spcPct val="95000"/>
                        </a:lnSpc>
                        <a:spcAft>
                          <a:spcPts val="0"/>
                        </a:spcAft>
                      </a:pPr>
                      <a:r>
                        <a:rPr sz="1100" b="0">
                          <a:solidFill>
                            <a:srgbClr val="000000"/>
                          </a:solidFill>
                          <a:latin typeface="Calibri"/>
                        </a:rPr>
                        <a:t>Re-pair from the dashboard; re-run verify.sh</a:t>
                      </a:r>
                    </a:p>
                  </a:txBody>
                  <a:tcPr marL="64008" marR="64008" marT="18288" marB="18288" anchor="ctr">
                    <a:solidFill>
                      <a:srgbClr val="F2F2F2"/>
                    </a:solidFill>
                  </a:tcPr>
                </a:tc>
                <a:tc>
                  <a:txBody>
                    <a:bodyPr wrap="square"/>
                    <a:lstStyle/>
                    <a:p>
                      <a:pPr>
                        <a:lnSpc>
                          <a:spcPct val="95000"/>
                        </a:lnSpc>
                        <a:spcAft>
                          <a:spcPts val="0"/>
                        </a:spcAft>
                      </a:pPr>
                      <a:r>
                        <a:rPr sz="1100" b="0">
                          <a:solidFill>
                            <a:srgbClr val="000000"/>
                          </a:solidFill>
                          <a:latin typeface="Calibri"/>
                        </a:rPr>
                        <a:t>The routing check fails after every reboot</a:t>
                      </a:r>
                    </a:p>
                  </a:txBody>
                  <a:tcPr marL="64008" marR="64008" marT="18288" marB="18288" anchor="ctr">
                    <a:solidFill>
                      <a:srgbClr val="F2F2F2"/>
                    </a:solidFill>
                  </a:tcPr>
                </a:tc>
              </a:tr>
              <a:tr h="292608">
                <a:tc>
                  <a:txBody>
                    <a:bodyPr wrap="square"/>
                    <a:lstStyle/>
                    <a:p>
                      <a:pPr>
                        <a:lnSpc>
                          <a:spcPct val="95000"/>
                        </a:lnSpc>
                        <a:spcAft>
                          <a:spcPts val="0"/>
                        </a:spcAft>
                      </a:pPr>
                      <a:r>
                        <a:rPr sz="1100" b="0">
                          <a:solidFill>
                            <a:srgbClr val="000000"/>
                          </a:solidFill>
                          <a:latin typeface="Calibri"/>
                        </a:rPr>
                        <a:t>“Unable to answer just now”</a:t>
                      </a:r>
                    </a:p>
                  </a:txBody>
                  <a:tcPr marL="64008" marR="64008" marT="18288" marB="18288" anchor="ctr">
                    <a:solidFill>
                      <a:srgbClr val="FFFFFF"/>
                    </a:solidFill>
                  </a:tcPr>
                </a:tc>
                <a:tc>
                  <a:txBody>
                    <a:bodyPr wrap="square"/>
                    <a:lstStyle/>
                    <a:p>
                      <a:pPr>
                        <a:lnSpc>
                          <a:spcPct val="95000"/>
                        </a:lnSpc>
                        <a:spcAft>
                          <a:spcPts val="0"/>
                        </a:spcAft>
                      </a:pPr>
                      <a:r>
                        <a:rPr sz="1100" b="0">
                          <a:solidFill>
                            <a:srgbClr val="000000"/>
                          </a:solidFill>
                          <a:latin typeface="Calibri"/>
                        </a:rPr>
                        <a:t>Credits exhausted, or venue internet down</a:t>
                      </a:r>
                    </a:p>
                  </a:txBody>
                  <a:tcPr marL="64008" marR="64008" marT="18288" marB="18288" anchor="ctr">
                    <a:solidFill>
                      <a:srgbClr val="FFFFFF"/>
                    </a:solidFill>
                  </a:tcPr>
                </a:tc>
                <a:tc>
                  <a:txBody>
                    <a:bodyPr wrap="square"/>
                    <a:lstStyle/>
                    <a:p>
                      <a:pPr>
                        <a:lnSpc>
                          <a:spcPct val="95000"/>
                        </a:lnSpc>
                        <a:spcAft>
                          <a:spcPts val="0"/>
                        </a:spcAft>
                      </a:pPr>
                      <a:r>
                        <a:rPr sz="1100" b="0">
                          <a:solidFill>
                            <a:srgbClr val="000000"/>
                          </a:solidFill>
                          <a:latin typeface="Calibri"/>
                        </a:rPr>
                        <a:t>Check provider status and credit balance on /maintain</a:t>
                      </a:r>
                    </a:p>
                  </a:txBody>
                  <a:tcPr marL="64008" marR="64008" marT="18288" marB="18288" anchor="ctr">
                    <a:solidFill>
                      <a:srgbClr val="FFFFFF"/>
                    </a:solidFill>
                  </a:tcPr>
                </a:tc>
                <a:tc>
                  <a:txBody>
                    <a:bodyPr wrap="square"/>
                    <a:lstStyle/>
                    <a:p>
                      <a:pPr>
                        <a:lnSpc>
                          <a:spcPct val="95000"/>
                        </a:lnSpc>
                        <a:spcAft>
                          <a:spcPts val="0"/>
                        </a:spcAft>
                      </a:pPr>
                      <a:r>
                        <a:rPr sz="1100" b="0">
                          <a:solidFill>
                            <a:srgbClr val="000000"/>
                          </a:solidFill>
                          <a:latin typeface="Calibri"/>
                        </a:rPr>
                        <a:t>Credits are funded and it still fails</a:t>
                      </a:r>
                    </a:p>
                  </a:txBody>
                  <a:tcPr marL="64008" marR="64008" marT="18288" marB="18288" anchor="ctr">
                    <a:solidFill>
                      <a:srgbClr val="FFFFFF"/>
                    </a:solidFill>
                  </a:tcPr>
                </a:tc>
              </a:tr>
            </a:tbl>
          </a:graphicData>
        </a:graphic>
      </p:graphicFrame>
      <p:sp>
        <p:nvSpPr>
          <p:cNvPr id="7" name="TextBox 6"/>
          <p:cNvSpPr txBox="1"/>
          <p:nvPr/>
        </p:nvSpPr>
        <p:spPr>
          <a:xfrm>
            <a:off x="502920" y="6455664"/>
            <a:ext cx="8229600" cy="274320"/>
          </a:xfrm>
          <a:prstGeom prst="rect">
            <a:avLst/>
          </a:prstGeom>
          <a:noFill/>
        </p:spPr>
        <p:txBody>
          <a:bodyPr wrap="square" lIns="27432" rIns="27432" tIns="0" bIns="0">
            <a:spAutoFit/>
          </a:bodyPr>
          <a:lstStyle/>
          <a:p>
            <a:pPr algn="l">
              <a:lnSpc>
                <a:spcPct val="100000"/>
              </a:lnSpc>
              <a:spcAft>
                <a:spcPts val="400"/>
              </a:spcAft>
            </a:pPr>
            <a:r>
              <a:rPr sz="850" b="0">
                <a:solidFill>
                  <a:srgbClr val="808080"/>
                </a:solidFill>
                <a:latin typeface="Calibri"/>
              </a:rPr>
              <a:t>Supervaise Inc. — CJAP handover · repo pi/deployment-snapshots @ 2545882 (2026-08-31)</a:t>
            </a:r>
          </a:p>
        </p:txBody>
      </p:sp>
      <p:sp>
        <p:nvSpPr>
          <p:cNvPr id="8" name="TextBox 7"/>
          <p:cNvSpPr txBox="1"/>
          <p:nvPr/>
        </p:nvSpPr>
        <p:spPr>
          <a:xfrm>
            <a:off x="11064240" y="6455664"/>
            <a:ext cx="685800" cy="274320"/>
          </a:xfrm>
          <a:prstGeom prst="rect">
            <a:avLst/>
          </a:prstGeom>
          <a:noFill/>
        </p:spPr>
        <p:txBody>
          <a:bodyPr wrap="square" lIns="27432" rIns="27432" tIns="0" bIns="0">
            <a:spAutoFit/>
          </a:bodyPr>
          <a:lstStyle/>
          <a:p>
            <a:pPr algn="r">
              <a:lnSpc>
                <a:spcPct val="100000"/>
              </a:lnSpc>
              <a:spcAft>
                <a:spcPts val="400"/>
              </a:spcAft>
            </a:pPr>
            <a:r>
              <a:rPr sz="900" b="0">
                <a:solidFill>
                  <a:srgbClr val="80808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02920" y="164592"/>
            <a:ext cx="10424160" cy="457200"/>
          </a:xfrm>
          <a:prstGeom prst="rect">
            <a:avLst/>
          </a:prstGeom>
          <a:noFill/>
        </p:spPr>
        <p:txBody>
          <a:bodyPr wrap="square" lIns="27432" rIns="27432" tIns="0" bIns="0">
            <a:spAutoFit/>
          </a:bodyPr>
          <a:lstStyle/>
          <a:p>
            <a:pPr algn="l">
              <a:lnSpc>
                <a:spcPct val="100000"/>
              </a:lnSpc>
              <a:spcAft>
                <a:spcPts val="400"/>
              </a:spcAft>
            </a:pPr>
            <a:r>
              <a:rPr sz="2700" b="1">
                <a:solidFill>
                  <a:srgbClr val="FFFFFF"/>
                </a:solidFill>
                <a:latin typeface="Calibri"/>
              </a:rPr>
              <a:t>Open items and owners</a:t>
            </a:r>
          </a:p>
        </p:txBody>
      </p:sp>
      <p:sp>
        <p:nvSpPr>
          <p:cNvPr id="4" name="TextBox 3"/>
          <p:cNvSpPr txBox="1"/>
          <p:nvPr/>
        </p:nvSpPr>
        <p:spPr>
          <a:xfrm>
            <a:off x="502920" y="566928"/>
            <a:ext cx="10424160" cy="274320"/>
          </a:xfrm>
          <a:prstGeom prst="rect">
            <a:avLst/>
          </a:prstGeom>
          <a:noFill/>
        </p:spPr>
        <p:txBody>
          <a:bodyPr wrap="square" lIns="27432" rIns="27432" tIns="0" bIns="0">
            <a:spAutoFit/>
          </a:bodyPr>
          <a:lstStyle/>
          <a:p>
            <a:pPr algn="l">
              <a:lnSpc>
                <a:spcPct val="100000"/>
              </a:lnSpc>
              <a:spcAft>
                <a:spcPts val="400"/>
              </a:spcAft>
            </a:pPr>
            <a:r>
              <a:rPr sz="1150" b="0">
                <a:solidFill>
                  <a:srgbClr val="C8E6C8"/>
                </a:solidFill>
                <a:latin typeface="Calibri"/>
              </a:rPr>
              <a:t>Carried forward, not closed</a:t>
            </a:r>
          </a:p>
        </p:txBody>
      </p:sp>
      <p:sp>
        <p:nvSpPr>
          <p:cNvPr id="5" name="Rectangle 4"/>
          <p:cNvSpPr/>
          <p:nvPr/>
        </p:nvSpPr>
        <p:spPr>
          <a:xfrm>
            <a:off x="0" y="841248"/>
            <a:ext cx="12191695" cy="41148"/>
          </a:xfrm>
          <a:prstGeom prst="rect">
            <a:avLst/>
          </a:prstGeom>
          <a:solidFill>
            <a:srgbClr val="00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graphicFrame>
        <p:nvGraphicFramePr>
          <p:cNvPr id="6" name="Table 5"/>
          <p:cNvGraphicFramePr>
            <a:graphicFrameLocks noGrp="1"/>
          </p:cNvGraphicFramePr>
          <p:nvPr/>
        </p:nvGraphicFramePr>
        <p:xfrm>
          <a:off x="502920" y="1143000"/>
          <a:ext cx="11155677" cy="2377440"/>
        </p:xfrm>
        <a:graphic>
          <a:graphicData uri="http://schemas.openxmlformats.org/drawingml/2006/table">
            <a:tbl>
              <a:tblPr firstRow="1" bandRow="1">
                <a:tableStyleId>{5C22544A-7EE6-4342-B048-85BDC9FD1C3A}</a:tableStyleId>
              </a:tblPr>
              <a:tblGrid>
                <a:gridCol w="2766608"/>
                <a:gridCol w="4016044"/>
                <a:gridCol w="1963399"/>
                <a:gridCol w="2409626"/>
              </a:tblGrid>
              <a:tr h="329184">
                <a:tc>
                  <a:txBody>
                    <a:bodyPr wrap="square"/>
                    <a:lstStyle/>
                    <a:p>
                      <a:pPr>
                        <a:lnSpc>
                          <a:spcPct val="95000"/>
                        </a:lnSpc>
                        <a:spcAft>
                          <a:spcPts val="0"/>
                        </a:spcAft>
                      </a:pPr>
                      <a:r>
                        <a:rPr sz="1150" b="1">
                          <a:solidFill>
                            <a:srgbClr val="FFFFFF"/>
                          </a:solidFill>
                          <a:latin typeface="Calibri"/>
                        </a:rPr>
                        <a:t>Item</a:t>
                      </a:r>
                    </a:p>
                  </a:txBody>
                  <a:tcPr marL="64008" marR="64008" marT="18288" marB="18288" anchor="ctr">
                    <a:solidFill>
                      <a:srgbClr val="2D2D2D"/>
                    </a:solidFill>
                  </a:tcPr>
                </a:tc>
                <a:tc>
                  <a:txBody>
                    <a:bodyPr wrap="square"/>
                    <a:lstStyle/>
                    <a:p>
                      <a:pPr>
                        <a:lnSpc>
                          <a:spcPct val="95000"/>
                        </a:lnSpc>
                        <a:spcAft>
                          <a:spcPts val="0"/>
                        </a:spcAft>
                      </a:pPr>
                      <a:r>
                        <a:rPr sz="1150" b="1">
                          <a:solidFill>
                            <a:srgbClr val="FFFFFF"/>
                          </a:solidFill>
                          <a:latin typeface="Calibri"/>
                        </a:rPr>
                        <a:t>Why it matters</a:t>
                      </a:r>
                    </a:p>
                  </a:txBody>
                  <a:tcPr marL="64008" marR="64008" marT="18288" marB="18288" anchor="ctr">
                    <a:solidFill>
                      <a:srgbClr val="2D2D2D"/>
                    </a:solidFill>
                  </a:tcPr>
                </a:tc>
                <a:tc>
                  <a:txBody>
                    <a:bodyPr wrap="square"/>
                    <a:lstStyle/>
                    <a:p>
                      <a:pPr>
                        <a:lnSpc>
                          <a:spcPct val="95000"/>
                        </a:lnSpc>
                        <a:spcAft>
                          <a:spcPts val="0"/>
                        </a:spcAft>
                      </a:pPr>
                      <a:r>
                        <a:rPr sz="1150" b="1">
                          <a:solidFill>
                            <a:srgbClr val="FFFFFF"/>
                          </a:solidFill>
                          <a:latin typeface="Calibri"/>
                        </a:rPr>
                        <a:t>Owner</a:t>
                      </a:r>
                    </a:p>
                  </a:txBody>
                  <a:tcPr marL="64008" marR="64008" marT="18288" marB="18288" anchor="ctr">
                    <a:solidFill>
                      <a:srgbClr val="2D2D2D"/>
                    </a:solidFill>
                  </a:tcPr>
                </a:tc>
                <a:tc>
                  <a:txBody>
                    <a:bodyPr wrap="square"/>
                    <a:lstStyle/>
                    <a:p>
                      <a:pPr>
                        <a:lnSpc>
                          <a:spcPct val="95000"/>
                        </a:lnSpc>
                        <a:spcAft>
                          <a:spcPts val="0"/>
                        </a:spcAft>
                      </a:pPr>
                      <a:r>
                        <a:rPr sz="1150" b="1">
                          <a:solidFill>
                            <a:srgbClr val="FFFFFF"/>
                          </a:solidFill>
                          <a:latin typeface="Calibri"/>
                        </a:rPr>
                        <a:t>Needed by</a:t>
                      </a:r>
                    </a:p>
                  </a:txBody>
                  <a:tcPr marL="64008" marR="64008" marT="18288" marB="18288" anchor="ctr">
                    <a:solidFill>
                      <a:srgbClr val="2D2D2D"/>
                    </a:solidFill>
                  </a:tcPr>
                </a:tc>
              </a:tr>
              <a:tr h="292608">
                <a:tc>
                  <a:txBody>
                    <a:bodyPr wrap="square"/>
                    <a:lstStyle/>
                    <a:p>
                      <a:pPr>
                        <a:lnSpc>
                          <a:spcPct val="95000"/>
                        </a:lnSpc>
                        <a:spcAft>
                          <a:spcPts val="0"/>
                        </a:spcAft>
                      </a:pPr>
                      <a:r>
                        <a:rPr sz="1150" b="0">
                          <a:solidFill>
                            <a:srgbClr val="000000"/>
                          </a:solidFill>
                          <a:latin typeface="Calibri"/>
                        </a:rPr>
                        <a:t>Blended per-turn cost</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The quoted cost excludes STT and TTS</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Pao</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Before the budget conversation</a:t>
                      </a:r>
                    </a:p>
                  </a:txBody>
                  <a:tcPr marL="64008" marR="64008" marT="18288" marB="18288" anchor="ctr">
                    <a:solidFill>
                      <a:srgbClr val="FFFFFF"/>
                    </a:solidFill>
                  </a:tcPr>
                </a:tc>
              </a:tr>
              <a:tr h="292608">
                <a:tc>
                  <a:txBody>
                    <a:bodyPr wrap="square"/>
                    <a:lstStyle/>
                    <a:p>
                      <a:pPr>
                        <a:lnSpc>
                          <a:spcPct val="95000"/>
                        </a:lnSpc>
                        <a:spcAft>
                          <a:spcPts val="0"/>
                        </a:spcAft>
                      </a:pPr>
                      <a:r>
                        <a:rPr sz="1150" b="0">
                          <a:solidFill>
                            <a:srgbClr val="000000"/>
                          </a:solidFill>
                          <a:latin typeface="Calibri"/>
                        </a:rPr>
                        <a:t>On-robot per-stage latency</a:t>
                      </a:r>
                    </a:p>
                  </a:txBody>
                  <a:tcPr marL="64008" marR="64008" marT="18288" marB="18288" anchor="ctr">
                    <a:solidFill>
                      <a:srgbClr val="F2F2F2"/>
                    </a:solidFill>
                  </a:tcPr>
                </a:tc>
                <a:tc>
                  <a:txBody>
                    <a:bodyPr wrap="square"/>
                    <a:lstStyle/>
                    <a:p>
                      <a:pPr>
                        <a:lnSpc>
                          <a:spcPct val="95000"/>
                        </a:lnSpc>
                        <a:spcAft>
                          <a:spcPts val="0"/>
                        </a:spcAft>
                      </a:pPr>
                      <a:r>
                        <a:rPr sz="1150" b="0">
                          <a:solidFill>
                            <a:srgbClr val="000000"/>
                          </a:solidFill>
                          <a:latin typeface="Calibri"/>
                        </a:rPr>
                        <a:t>Two stages unmeasured; the 4 s target cannot be judged</a:t>
                      </a:r>
                    </a:p>
                  </a:txBody>
                  <a:tcPr marL="64008" marR="64008" marT="18288" marB="18288" anchor="ctr">
                    <a:solidFill>
                      <a:srgbClr val="F2F2F2"/>
                    </a:solidFill>
                  </a:tcPr>
                </a:tc>
                <a:tc>
                  <a:txBody>
                    <a:bodyPr wrap="square"/>
                    <a:lstStyle/>
                    <a:p>
                      <a:pPr>
                        <a:lnSpc>
                          <a:spcPct val="95000"/>
                        </a:lnSpc>
                        <a:spcAft>
                          <a:spcPts val="0"/>
                        </a:spcAft>
                      </a:pPr>
                      <a:r>
                        <a:rPr sz="1150" b="0">
                          <a:solidFill>
                            <a:srgbClr val="000000"/>
                          </a:solidFill>
                          <a:latin typeface="Calibri"/>
                        </a:rPr>
                        <a:t>Pao</a:t>
                      </a:r>
                    </a:p>
                  </a:txBody>
                  <a:tcPr marL="64008" marR="64008" marT="18288" marB="18288" anchor="ctr">
                    <a:solidFill>
                      <a:srgbClr val="F2F2F2"/>
                    </a:solidFill>
                  </a:tcPr>
                </a:tc>
                <a:tc>
                  <a:txBody>
                    <a:bodyPr wrap="square"/>
                    <a:lstStyle/>
                    <a:p>
                      <a:pPr>
                        <a:lnSpc>
                          <a:spcPct val="95000"/>
                        </a:lnSpc>
                        <a:spcAft>
                          <a:spcPts val="0"/>
                        </a:spcAft>
                      </a:pPr>
                      <a:r>
                        <a:rPr sz="1150" b="0">
                          <a:solidFill>
                            <a:srgbClr val="000000"/>
                          </a:solidFill>
                          <a:latin typeface="Calibri"/>
                        </a:rPr>
                        <a:t>Next status review</a:t>
                      </a:r>
                    </a:p>
                  </a:txBody>
                  <a:tcPr marL="64008" marR="64008" marT="18288" marB="18288" anchor="ctr">
                    <a:solidFill>
                      <a:srgbClr val="F2F2F2"/>
                    </a:solidFill>
                  </a:tcPr>
                </a:tc>
              </a:tr>
              <a:tr h="292608">
                <a:tc>
                  <a:txBody>
                    <a:bodyPr wrap="square"/>
                    <a:lstStyle/>
                    <a:p>
                      <a:pPr>
                        <a:lnSpc>
                          <a:spcPct val="95000"/>
                        </a:lnSpc>
                        <a:spcAft>
                          <a:spcPts val="0"/>
                        </a:spcAft>
                      </a:pPr>
                      <a:r>
                        <a:rPr sz="1150" b="0">
                          <a:solidFill>
                            <a:srgbClr val="000000"/>
                          </a:solidFill>
                          <a:latin typeface="Calibri"/>
                        </a:rPr>
                        <a:t>Untethered runtime</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No battery figure exists at all</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Hardware</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Before any un-mained deployment</a:t>
                      </a:r>
                    </a:p>
                  </a:txBody>
                  <a:tcPr marL="64008" marR="64008" marT="18288" marB="18288" anchor="ctr">
                    <a:solidFill>
                      <a:srgbClr val="FFFFFF"/>
                    </a:solidFill>
                  </a:tcPr>
                </a:tc>
              </a:tr>
              <a:tr h="292608">
                <a:tc>
                  <a:txBody>
                    <a:bodyPr wrap="square"/>
                    <a:lstStyle/>
                    <a:p>
                      <a:pPr>
                        <a:lnSpc>
                          <a:spcPct val="95000"/>
                        </a:lnSpc>
                        <a:spcAft>
                          <a:spcPts val="0"/>
                        </a:spcAft>
                      </a:pPr>
                      <a:r>
                        <a:rPr sz="1150" b="0">
                          <a:solidFill>
                            <a:srgbClr val="000000"/>
                          </a:solidFill>
                          <a:latin typeface="Calibri"/>
                        </a:rPr>
                        <a:t>Wake-word live bench</a:t>
                      </a:r>
                    </a:p>
                  </a:txBody>
                  <a:tcPr marL="64008" marR="64008" marT="18288" marB="18288" anchor="ctr">
                    <a:solidFill>
                      <a:srgbClr val="F2F2F2"/>
                    </a:solidFill>
                  </a:tcPr>
                </a:tc>
                <a:tc>
                  <a:txBody>
                    <a:bodyPr wrap="square"/>
                    <a:lstStyle/>
                    <a:p>
                      <a:pPr>
                        <a:lnSpc>
                          <a:spcPct val="95000"/>
                        </a:lnSpc>
                        <a:spcAft>
                          <a:spcPts val="0"/>
                        </a:spcAft>
                      </a:pPr>
                      <a:r>
                        <a:rPr sz="1150" b="0">
                          <a:solidFill>
                            <a:srgbClr val="000000"/>
                          </a:solidFill>
                          <a:latin typeface="Calibri"/>
                        </a:rPr>
                        <a:t>The only release gate still entirely unmet</a:t>
                      </a:r>
                    </a:p>
                  </a:txBody>
                  <a:tcPr marL="64008" marR="64008" marT="18288" marB="18288" anchor="ctr">
                    <a:solidFill>
                      <a:srgbClr val="F2F2F2"/>
                    </a:solidFill>
                  </a:tcPr>
                </a:tc>
                <a:tc>
                  <a:txBody>
                    <a:bodyPr wrap="square"/>
                    <a:lstStyle/>
                    <a:p>
                      <a:pPr>
                        <a:lnSpc>
                          <a:spcPct val="95000"/>
                        </a:lnSpc>
                        <a:spcAft>
                          <a:spcPts val="0"/>
                        </a:spcAft>
                      </a:pPr>
                      <a:r>
                        <a:rPr sz="1150" b="0">
                          <a:solidFill>
                            <a:srgbClr val="000000"/>
                          </a:solidFill>
                          <a:latin typeface="Calibri"/>
                        </a:rPr>
                        <a:t>Dev0 + Sheena + Pao</a:t>
                      </a:r>
                    </a:p>
                  </a:txBody>
                  <a:tcPr marL="64008" marR="64008" marT="18288" marB="18288" anchor="ctr">
                    <a:solidFill>
                      <a:srgbClr val="F2F2F2"/>
                    </a:solidFill>
                  </a:tcPr>
                </a:tc>
                <a:tc>
                  <a:txBody>
                    <a:bodyPr wrap="square"/>
                    <a:lstStyle/>
                    <a:p>
                      <a:pPr>
                        <a:lnSpc>
                          <a:spcPct val="95000"/>
                        </a:lnSpc>
                        <a:spcAft>
                          <a:spcPts val="0"/>
                        </a:spcAft>
                      </a:pPr>
                      <a:r>
                        <a:rPr sz="1150" b="0">
                          <a:solidFill>
                            <a:srgbClr val="000000"/>
                          </a:solidFill>
                          <a:latin typeface="Calibri"/>
                        </a:rPr>
                        <a:t>Before unattended operation</a:t>
                      </a:r>
                    </a:p>
                  </a:txBody>
                  <a:tcPr marL="64008" marR="64008" marT="18288" marB="18288" anchor="ctr">
                    <a:solidFill>
                      <a:srgbClr val="F2F2F2"/>
                    </a:solidFill>
                  </a:tcPr>
                </a:tc>
              </a:tr>
              <a:tr h="292608">
                <a:tc>
                  <a:txBody>
                    <a:bodyPr wrap="square"/>
                    <a:lstStyle/>
                    <a:p>
                      <a:pPr>
                        <a:lnSpc>
                          <a:spcPct val="95000"/>
                        </a:lnSpc>
                        <a:spcAft>
                          <a:spcPts val="0"/>
                        </a:spcAft>
                      </a:pPr>
                      <a:r>
                        <a:rPr sz="1150" b="0">
                          <a:solidFill>
                            <a:srgbClr val="000000"/>
                          </a:solidFill>
                          <a:latin typeface="Calibri"/>
                        </a:rPr>
                        <a:t>ElevenLabs credits in dollars</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Drives the monthly running cost</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Dev0</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Before the budget conversation</a:t>
                      </a:r>
                    </a:p>
                  </a:txBody>
                  <a:tcPr marL="64008" marR="64008" marT="18288" marB="18288" anchor="ctr">
                    <a:solidFill>
                      <a:srgbClr val="FFFFFF"/>
                    </a:solidFill>
                  </a:tcPr>
                </a:tc>
              </a:tr>
              <a:tr h="292608">
                <a:tc>
                  <a:txBody>
                    <a:bodyPr wrap="square"/>
                    <a:lstStyle/>
                    <a:p>
                      <a:pPr>
                        <a:lnSpc>
                          <a:spcPct val="95000"/>
                        </a:lnSpc>
                        <a:spcAft>
                          <a:spcPts val="0"/>
                        </a:spcAft>
                      </a:pPr>
                      <a:r>
                        <a:rPr sz="1150" b="0">
                          <a:solidFill>
                            <a:srgbClr val="000000"/>
                          </a:solidFill>
                          <a:latin typeface="Calibri"/>
                        </a:rPr>
                        <a:t>Approved power-off sequence</a:t>
                      </a:r>
                    </a:p>
                  </a:txBody>
                  <a:tcPr marL="64008" marR="64008" marT="18288" marB="18288" anchor="ctr">
                    <a:solidFill>
                      <a:srgbClr val="F2F2F2"/>
                    </a:solidFill>
                  </a:tcPr>
                </a:tc>
                <a:tc>
                  <a:txBody>
                    <a:bodyPr wrap="square"/>
                    <a:lstStyle/>
                    <a:p>
                      <a:pPr>
                        <a:lnSpc>
                          <a:spcPct val="95000"/>
                        </a:lnSpc>
                        <a:spcAft>
                          <a:spcPts val="0"/>
                        </a:spcAft>
                      </a:pPr>
                      <a:r>
                        <a:rPr sz="1150" b="0">
                          <a:solidFill>
                            <a:srgbClr val="000000"/>
                          </a:solidFill>
                          <a:latin typeface="Calibri"/>
                        </a:rPr>
                        <a:t>Staff need a safe shutdown</a:t>
                      </a:r>
                    </a:p>
                  </a:txBody>
                  <a:tcPr marL="64008" marR="64008" marT="18288" marB="18288" anchor="ctr">
                    <a:solidFill>
                      <a:srgbClr val="F2F2F2"/>
                    </a:solidFill>
                  </a:tcPr>
                </a:tc>
                <a:tc>
                  <a:txBody>
                    <a:bodyPr wrap="square"/>
                    <a:lstStyle/>
                    <a:p>
                      <a:pPr>
                        <a:lnSpc>
                          <a:spcPct val="95000"/>
                        </a:lnSpc>
                        <a:spcAft>
                          <a:spcPts val="0"/>
                        </a:spcAft>
                      </a:pPr>
                      <a:r>
                        <a:rPr sz="1150" b="0">
                          <a:solidFill>
                            <a:srgbClr val="000000"/>
                          </a:solidFill>
                          <a:latin typeface="Calibri"/>
                        </a:rPr>
                        <a:t>Pao / Dev0</a:t>
                      </a:r>
                    </a:p>
                  </a:txBody>
                  <a:tcPr marL="64008" marR="64008" marT="18288" marB="18288" anchor="ctr">
                    <a:solidFill>
                      <a:srgbClr val="F2F2F2"/>
                    </a:solidFill>
                  </a:tcPr>
                </a:tc>
                <a:tc>
                  <a:txBody>
                    <a:bodyPr wrap="square"/>
                    <a:lstStyle/>
                    <a:p>
                      <a:pPr>
                        <a:lnSpc>
                          <a:spcPct val="95000"/>
                        </a:lnSpc>
                        <a:spcAft>
                          <a:spcPts val="0"/>
                        </a:spcAft>
                      </a:pPr>
                      <a:r>
                        <a:rPr sz="1150" b="0">
                          <a:solidFill>
                            <a:srgbClr val="000000"/>
                          </a:solidFill>
                          <a:latin typeface="Calibri"/>
                        </a:rPr>
                        <a:t>Before staff training</a:t>
                      </a:r>
                    </a:p>
                  </a:txBody>
                  <a:tcPr marL="64008" marR="64008" marT="18288" marB="18288" anchor="ctr">
                    <a:solidFill>
                      <a:srgbClr val="F2F2F2"/>
                    </a:solidFill>
                  </a:tcPr>
                </a:tc>
              </a:tr>
              <a:tr h="292608">
                <a:tc>
                  <a:txBody>
                    <a:bodyPr wrap="square"/>
                    <a:lstStyle/>
                    <a:p>
                      <a:pPr>
                        <a:lnSpc>
                          <a:spcPct val="95000"/>
                        </a:lnSpc>
                        <a:spcAft>
                          <a:spcPts val="0"/>
                        </a:spcAft>
                      </a:pPr>
                      <a:r>
                        <a:rPr sz="1150" b="0">
                          <a:solidFill>
                            <a:srgbClr val="000000"/>
                          </a:solidFill>
                          <a:latin typeface="Calibri"/>
                        </a:rPr>
                        <a:t>Live UI screenshots</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Both surfaces documented from source only</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Pao</a:t>
                      </a:r>
                    </a:p>
                  </a:txBody>
                  <a:tcPr marL="64008" marR="64008" marT="18288" marB="18288" anchor="ctr">
                    <a:solidFill>
                      <a:srgbClr val="FFFFFF"/>
                    </a:solidFill>
                  </a:tcPr>
                </a:tc>
                <a:tc>
                  <a:txBody>
                    <a:bodyPr wrap="square"/>
                    <a:lstStyle/>
                    <a:p>
                      <a:pPr>
                        <a:lnSpc>
                          <a:spcPct val="95000"/>
                        </a:lnSpc>
                        <a:spcAft>
                          <a:spcPts val="0"/>
                        </a:spcAft>
                      </a:pPr>
                      <a:r>
                        <a:rPr sz="1150" b="0">
                          <a:solidFill>
                            <a:srgbClr val="000000"/>
                          </a:solidFill>
                          <a:latin typeface="Calibri"/>
                        </a:rPr>
                        <a:t>Before the next revision</a:t>
                      </a:r>
                    </a:p>
                  </a:txBody>
                  <a:tcPr marL="64008" marR="64008" marT="18288" marB="18288" anchor="ctr">
                    <a:solidFill>
                      <a:srgbClr val="FFFFFF"/>
                    </a:solidFill>
                  </a:tcPr>
                </a:tc>
              </a:tr>
            </a:tbl>
          </a:graphicData>
        </a:graphic>
      </p:graphicFrame>
      <p:sp>
        <p:nvSpPr>
          <p:cNvPr id="7" name="TextBox 6"/>
          <p:cNvSpPr txBox="1"/>
          <p:nvPr/>
        </p:nvSpPr>
        <p:spPr>
          <a:xfrm>
            <a:off x="502920" y="6455664"/>
            <a:ext cx="8229600" cy="274320"/>
          </a:xfrm>
          <a:prstGeom prst="rect">
            <a:avLst/>
          </a:prstGeom>
          <a:noFill/>
        </p:spPr>
        <p:txBody>
          <a:bodyPr wrap="square" lIns="27432" rIns="27432" tIns="0" bIns="0">
            <a:spAutoFit/>
          </a:bodyPr>
          <a:lstStyle/>
          <a:p>
            <a:pPr algn="l">
              <a:lnSpc>
                <a:spcPct val="100000"/>
              </a:lnSpc>
              <a:spcAft>
                <a:spcPts val="400"/>
              </a:spcAft>
            </a:pPr>
            <a:r>
              <a:rPr sz="850" b="0">
                <a:solidFill>
                  <a:srgbClr val="808080"/>
                </a:solidFill>
                <a:latin typeface="Calibri"/>
              </a:rPr>
              <a:t>Supervaise Inc. — CJAP handover · repo pi/deployment-snapshots @ 2545882 (2026-08-31)</a:t>
            </a:r>
          </a:p>
        </p:txBody>
      </p:sp>
      <p:sp>
        <p:nvSpPr>
          <p:cNvPr id="8" name="TextBox 7"/>
          <p:cNvSpPr txBox="1"/>
          <p:nvPr/>
        </p:nvSpPr>
        <p:spPr>
          <a:xfrm>
            <a:off x="11064240" y="6455664"/>
            <a:ext cx="685800" cy="274320"/>
          </a:xfrm>
          <a:prstGeom prst="rect">
            <a:avLst/>
          </a:prstGeom>
          <a:noFill/>
        </p:spPr>
        <p:txBody>
          <a:bodyPr wrap="square" lIns="27432" rIns="27432" tIns="0" bIns="0">
            <a:spAutoFit/>
          </a:bodyPr>
          <a:lstStyle/>
          <a:p>
            <a:pPr algn="r">
              <a:lnSpc>
                <a:spcPct val="100000"/>
              </a:lnSpc>
              <a:spcAft>
                <a:spcPts val="400"/>
              </a:spcAft>
            </a:pPr>
            <a:r>
              <a:rPr sz="900" b="0">
                <a:solidFill>
                  <a:srgbClr val="80808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02920" y="164592"/>
            <a:ext cx="10424160" cy="457200"/>
          </a:xfrm>
          <a:prstGeom prst="rect">
            <a:avLst/>
          </a:prstGeom>
          <a:noFill/>
        </p:spPr>
        <p:txBody>
          <a:bodyPr wrap="square" lIns="27432" rIns="27432" tIns="0" bIns="0">
            <a:spAutoFit/>
          </a:bodyPr>
          <a:lstStyle/>
          <a:p>
            <a:pPr algn="l">
              <a:lnSpc>
                <a:spcPct val="100000"/>
              </a:lnSpc>
              <a:spcAft>
                <a:spcPts val="400"/>
              </a:spcAft>
            </a:pPr>
            <a:r>
              <a:rPr sz="2700" b="1">
                <a:solidFill>
                  <a:srgbClr val="FFFFFF"/>
                </a:solidFill>
                <a:latin typeface="Calibri"/>
              </a:rPr>
              <a:t>What this handover does not include</a:t>
            </a:r>
          </a:p>
        </p:txBody>
      </p:sp>
      <p:sp>
        <p:nvSpPr>
          <p:cNvPr id="4" name="TextBox 3"/>
          <p:cNvSpPr txBox="1"/>
          <p:nvPr/>
        </p:nvSpPr>
        <p:spPr>
          <a:xfrm>
            <a:off x="502920" y="566928"/>
            <a:ext cx="10424160" cy="274320"/>
          </a:xfrm>
          <a:prstGeom prst="rect">
            <a:avLst/>
          </a:prstGeom>
          <a:noFill/>
        </p:spPr>
        <p:txBody>
          <a:bodyPr wrap="square" lIns="27432" rIns="27432" tIns="0" bIns="0">
            <a:spAutoFit/>
          </a:bodyPr>
          <a:lstStyle/>
          <a:p>
            <a:pPr algn="l">
              <a:lnSpc>
                <a:spcPct val="100000"/>
              </a:lnSpc>
              <a:spcAft>
                <a:spcPts val="400"/>
              </a:spcAft>
            </a:pPr>
            <a:r>
              <a:rPr sz="1150" b="0">
                <a:solidFill>
                  <a:srgbClr val="C8E6C8"/>
                </a:solidFill>
                <a:latin typeface="Calibri"/>
              </a:rPr>
              <a:t>And why it matters</a:t>
            </a:r>
          </a:p>
        </p:txBody>
      </p:sp>
      <p:sp>
        <p:nvSpPr>
          <p:cNvPr id="5" name="Rectangle 4"/>
          <p:cNvSpPr/>
          <p:nvPr/>
        </p:nvSpPr>
        <p:spPr>
          <a:xfrm>
            <a:off x="0" y="841248"/>
            <a:ext cx="12191695" cy="41148"/>
          </a:xfrm>
          <a:prstGeom prst="rect">
            <a:avLst/>
          </a:prstGeom>
          <a:solidFill>
            <a:srgbClr val="00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48640" y="1234440"/>
            <a:ext cx="11064240" cy="1600200"/>
          </a:xfrm>
          <a:prstGeom prst="rect">
            <a:avLst/>
          </a:prstGeom>
          <a:solidFill>
            <a:srgbClr val="FDE9E9"/>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lnSpc>
                <a:spcPct val="102000"/>
              </a:lnSpc>
              <a:spcAft>
                <a:spcPts val="500"/>
              </a:spcAft>
            </a:pPr>
            <a:r>
              <a:rPr sz="1700" b="1">
                <a:solidFill>
                  <a:srgbClr val="000000"/>
                </a:solidFill>
                <a:latin typeface="Calibri"/>
              </a:rPr>
              <a:t>The pilot “brain” is a different repository, not part of this handover.</a:t>
            </a:r>
          </a:p>
          <a:p>
            <a:pPr>
              <a:lnSpc>
                <a:spcPct val="102000"/>
              </a:lnSpc>
              <a:spcAft>
                <a:spcPts val="500"/>
              </a:spcAft>
            </a:pPr>
            <a:r>
              <a:rPr sz="1700" b="0">
                <a:solidFill>
                  <a:srgbClr val="000000"/>
                </a:solidFill>
                <a:latin typeface="Calibri"/>
              </a:rPr>
              <a:t>You are receiving the robot: 79 documents, hand-curated topics.</a:t>
            </a:r>
          </a:p>
        </p:txBody>
      </p:sp>
      <p:sp>
        <p:nvSpPr>
          <p:cNvPr id="7" name="TextBox 6"/>
          <p:cNvSpPr txBox="1"/>
          <p:nvPr/>
        </p:nvSpPr>
        <p:spPr>
          <a:xfrm>
            <a:off x="731520" y="3200400"/>
            <a:ext cx="10698480" cy="2468880"/>
          </a:xfrm>
          <a:prstGeom prst="rect">
            <a:avLst/>
          </a:prstGeom>
          <a:noFill/>
        </p:spPr>
        <p:txBody>
          <a:bodyPr wrap="square" lIns="0" rIns="0" tIns="0" bIns="0">
            <a:spAutoFit/>
          </a:bodyPr>
          <a:lstStyle/>
          <a:p>
            <a:pPr>
              <a:lnSpc>
                <a:spcPct val="102000"/>
              </a:lnSpc>
              <a:spcAft>
                <a:spcPts val="2600"/>
              </a:spcAft>
            </a:pPr>
            <a:r>
              <a:rPr sz="1900">
                <a:solidFill>
                  <a:srgbClr val="00CC00"/>
                </a:solidFill>
                <a:latin typeface="Calibri"/>
              </a:rPr>
              <a:t>▪  </a:t>
            </a:r>
            <a:r>
              <a:rPr sz="1900" b="1">
                <a:solidFill>
                  <a:srgbClr val="000000"/>
                </a:solidFill>
                <a:latin typeface="Calibri"/>
              </a:rPr>
              <a:t>Verified:</a:t>
            </a:r>
            <a:r>
              <a:rPr sz="1900" b="0">
                <a:solidFill>
                  <a:srgbClr val="000000"/>
                </a:solidFill>
                <a:latin typeface="Calibri"/>
              </a:rPr>
              <a:t> no pilot commits, </a:t>
            </a:r>
            <a:r>
              <a:rPr sz="1900" b="1">
                <a:solidFill>
                  <a:srgbClr val="000000"/>
                </a:solidFill>
                <a:latin typeface="Calibri"/>
              </a:rPr>
              <a:t>no git tags</a:t>
            </a:r>
          </a:p>
          <a:p>
            <a:pPr>
              <a:lnSpc>
                <a:spcPct val="102000"/>
              </a:lnSpc>
              <a:spcAft>
                <a:spcPts val="2600"/>
              </a:spcAft>
            </a:pPr>
            <a:r>
              <a:rPr sz="1900">
                <a:solidFill>
                  <a:srgbClr val="00CC00"/>
                </a:solidFill>
                <a:latin typeface="Calibri"/>
              </a:rPr>
              <a:t>▪  </a:t>
            </a:r>
            <a:r>
              <a:rPr sz="1900" b="1">
                <a:solidFill>
                  <a:srgbClr val="000000"/>
                </a:solidFill>
                <a:latin typeface="Calibri"/>
              </a:rPr>
              <a:t>Effect:</a:t>
            </a:r>
            <a:r>
              <a:rPr sz="1900" b="0">
                <a:solidFill>
                  <a:srgbClr val="000000"/>
                </a:solidFill>
                <a:latin typeface="Calibri"/>
              </a:rPr>
              <a:t> it declines questions he did write about</a:t>
            </a:r>
          </a:p>
        </p:txBody>
      </p:sp>
      <p:sp>
        <p:nvSpPr>
          <p:cNvPr id="8" name="TextBox 7"/>
          <p:cNvSpPr txBox="1"/>
          <p:nvPr/>
        </p:nvSpPr>
        <p:spPr>
          <a:xfrm>
            <a:off x="502920" y="6455664"/>
            <a:ext cx="8229600" cy="274320"/>
          </a:xfrm>
          <a:prstGeom prst="rect">
            <a:avLst/>
          </a:prstGeom>
          <a:noFill/>
        </p:spPr>
        <p:txBody>
          <a:bodyPr wrap="square" lIns="27432" rIns="27432" tIns="0" bIns="0">
            <a:spAutoFit/>
          </a:bodyPr>
          <a:lstStyle/>
          <a:p>
            <a:pPr algn="l">
              <a:lnSpc>
                <a:spcPct val="100000"/>
              </a:lnSpc>
              <a:spcAft>
                <a:spcPts val="400"/>
              </a:spcAft>
            </a:pPr>
            <a:r>
              <a:rPr sz="850" b="0">
                <a:solidFill>
                  <a:srgbClr val="808080"/>
                </a:solidFill>
                <a:latin typeface="Calibri"/>
              </a:rPr>
              <a:t>Supervaise Inc. — CJAP handover · repo pi/deployment-snapshots @ 2545882 (2026-08-31)</a:t>
            </a:r>
          </a:p>
        </p:txBody>
      </p:sp>
      <p:sp>
        <p:nvSpPr>
          <p:cNvPr id="9" name="TextBox 8"/>
          <p:cNvSpPr txBox="1"/>
          <p:nvPr/>
        </p:nvSpPr>
        <p:spPr>
          <a:xfrm>
            <a:off x="11064240" y="6455664"/>
            <a:ext cx="685800" cy="274320"/>
          </a:xfrm>
          <a:prstGeom prst="rect">
            <a:avLst/>
          </a:prstGeom>
          <a:noFill/>
        </p:spPr>
        <p:txBody>
          <a:bodyPr wrap="square" lIns="27432" rIns="27432" tIns="0" bIns="0">
            <a:spAutoFit/>
          </a:bodyPr>
          <a:lstStyle/>
          <a:p>
            <a:pPr algn="r">
              <a:lnSpc>
                <a:spcPct val="100000"/>
              </a:lnSpc>
              <a:spcAft>
                <a:spcPts val="400"/>
              </a:spcAft>
            </a:pPr>
            <a:r>
              <a:rPr sz="900" b="0">
                <a:solidFill>
                  <a:srgbClr val="80808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502920" y="164592"/>
            <a:ext cx="10424160" cy="457200"/>
          </a:xfrm>
          <a:prstGeom prst="rect">
            <a:avLst/>
          </a:prstGeom>
          <a:noFill/>
        </p:spPr>
        <p:txBody>
          <a:bodyPr wrap="square" lIns="27432" rIns="27432" tIns="0" bIns="0">
            <a:spAutoFit/>
          </a:bodyPr>
          <a:lstStyle/>
          <a:p>
            <a:pPr algn="l">
              <a:lnSpc>
                <a:spcPct val="100000"/>
              </a:lnSpc>
              <a:spcAft>
                <a:spcPts val="400"/>
              </a:spcAft>
            </a:pPr>
            <a:r>
              <a:rPr sz="2700" b="1">
                <a:solidFill>
                  <a:srgbClr val="FFFFFF"/>
                </a:solidFill>
                <a:latin typeface="Calibri"/>
              </a:rPr>
              <a:t>Sources and evidence</a:t>
            </a:r>
          </a:p>
        </p:txBody>
      </p:sp>
      <p:sp>
        <p:nvSpPr>
          <p:cNvPr id="4" name="TextBox 3"/>
          <p:cNvSpPr txBox="1"/>
          <p:nvPr/>
        </p:nvSpPr>
        <p:spPr>
          <a:xfrm>
            <a:off x="502920" y="566928"/>
            <a:ext cx="10424160" cy="274320"/>
          </a:xfrm>
          <a:prstGeom prst="rect">
            <a:avLst/>
          </a:prstGeom>
          <a:noFill/>
        </p:spPr>
        <p:txBody>
          <a:bodyPr wrap="square" lIns="27432" rIns="27432" tIns="0" bIns="0">
            <a:spAutoFit/>
          </a:bodyPr>
          <a:lstStyle/>
          <a:p>
            <a:pPr algn="l">
              <a:lnSpc>
                <a:spcPct val="100000"/>
              </a:lnSpc>
              <a:spcAft>
                <a:spcPts val="400"/>
              </a:spcAft>
            </a:pPr>
            <a:r>
              <a:rPr sz="1150" b="0">
                <a:solidFill>
                  <a:srgbClr val="C8E6C8"/>
                </a:solidFill>
                <a:latin typeface="Calibri"/>
              </a:rPr>
              <a:t>Every figure traces to one of these</a:t>
            </a:r>
          </a:p>
        </p:txBody>
      </p:sp>
      <p:sp>
        <p:nvSpPr>
          <p:cNvPr id="5" name="Rectangle 4"/>
          <p:cNvSpPr/>
          <p:nvPr/>
        </p:nvSpPr>
        <p:spPr>
          <a:xfrm>
            <a:off x="0" y="841248"/>
            <a:ext cx="12191695" cy="41148"/>
          </a:xfrm>
          <a:prstGeom prst="rect">
            <a:avLst/>
          </a:prstGeom>
          <a:solidFill>
            <a:srgbClr val="00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640080" y="1463040"/>
            <a:ext cx="10881360" cy="4023360"/>
          </a:xfrm>
          <a:prstGeom prst="rect">
            <a:avLst/>
          </a:prstGeom>
          <a:noFill/>
        </p:spPr>
        <p:txBody>
          <a:bodyPr wrap="square" lIns="0" rIns="0" tIns="0" bIns="0">
            <a:spAutoFit/>
          </a:bodyPr>
          <a:lstStyle/>
          <a:p>
            <a:pPr>
              <a:lnSpc>
                <a:spcPct val="102000"/>
              </a:lnSpc>
              <a:spcAft>
                <a:spcPts val="2000"/>
              </a:spcAft>
            </a:pPr>
            <a:r>
              <a:rPr sz="1600">
                <a:solidFill>
                  <a:srgbClr val="00CC00"/>
                </a:solidFill>
                <a:latin typeface="Calibri"/>
              </a:rPr>
              <a:t>▪  </a:t>
            </a:r>
            <a:r>
              <a:rPr sz="1600" b="1">
                <a:solidFill>
                  <a:srgbClr val="000000"/>
                </a:solidFill>
                <a:latin typeface="Calibri"/>
              </a:rPr>
              <a:t>Repository</a:t>
            </a:r>
            <a:r>
              <a:rPr sz="1600" b="0">
                <a:solidFill>
                  <a:srgbClr val="000000"/>
                </a:solidFill>
                <a:latin typeface="Calibri"/>
              </a:rPr>
              <a:t> — Supervaise-Inc/CJAP, pi/deployment-snapshots @ 2545882 (2026-08-31)</a:t>
            </a:r>
          </a:p>
          <a:p>
            <a:pPr>
              <a:lnSpc>
                <a:spcPct val="102000"/>
              </a:lnSpc>
              <a:spcAft>
                <a:spcPts val="2000"/>
              </a:spcAft>
            </a:pPr>
            <a:r>
              <a:rPr sz="1600">
                <a:solidFill>
                  <a:srgbClr val="00CC00"/>
                </a:solidFill>
                <a:latin typeface="Calibri"/>
              </a:rPr>
              <a:t>▪  </a:t>
            </a:r>
            <a:r>
              <a:rPr sz="1600" b="1">
                <a:solidFill>
                  <a:srgbClr val="000000"/>
                </a:solidFill>
                <a:latin typeface="Calibri"/>
              </a:rPr>
              <a:t>Config</a:t>
            </a:r>
            <a:r>
              <a:rPr sz="1600" b="0">
                <a:solidFill>
                  <a:srgbClr val="000000"/>
                </a:solidFill>
                <a:latin typeface="Calibri"/>
              </a:rPr>
              <a:t> — app/.env.example · wakeword.conf</a:t>
            </a:r>
          </a:p>
          <a:p>
            <a:pPr>
              <a:lnSpc>
                <a:spcPct val="102000"/>
              </a:lnSpc>
              <a:spcAft>
                <a:spcPts val="2000"/>
              </a:spcAft>
            </a:pPr>
            <a:r>
              <a:rPr sz="1600">
                <a:solidFill>
                  <a:srgbClr val="00CC00"/>
                </a:solidFill>
                <a:latin typeface="Calibri"/>
              </a:rPr>
              <a:t>▪  </a:t>
            </a:r>
            <a:r>
              <a:rPr sz="1600" b="1">
                <a:solidFill>
                  <a:srgbClr val="000000"/>
                </a:solidFill>
                <a:latin typeface="Calibri"/>
              </a:rPr>
              <a:t>Runtime notes</a:t>
            </a:r>
            <a:r>
              <a:rPr sz="1600" b="0">
                <a:solidFill>
                  <a:srgbClr val="000000"/>
                </a:solidFill>
                <a:latin typeface="Calibri"/>
              </a:rPr>
              <a:t> — PROJECT_NOTES.txt · usage_meter.py</a:t>
            </a:r>
          </a:p>
          <a:p>
            <a:pPr>
              <a:lnSpc>
                <a:spcPct val="102000"/>
              </a:lnSpc>
              <a:spcAft>
                <a:spcPts val="2000"/>
              </a:spcAft>
            </a:pPr>
            <a:r>
              <a:rPr sz="1600">
                <a:solidFill>
                  <a:srgbClr val="00CC00"/>
                </a:solidFill>
                <a:latin typeface="Calibri"/>
              </a:rPr>
              <a:t>▪  </a:t>
            </a:r>
            <a:r>
              <a:rPr sz="1600" b="1">
                <a:solidFill>
                  <a:srgbClr val="000000"/>
                </a:solidFill>
                <a:latin typeface="Calibri"/>
              </a:rPr>
              <a:t>Corpus and tests</a:t>
            </a:r>
            <a:r>
              <a:rPr sz="1600" b="0">
                <a:solidFill>
                  <a:srgbClr val="000000"/>
                </a:solidFill>
                <a:latin typeface="Calibri"/>
              </a:rPr>
              <a:t> — MANIFEST.md · TS-006</a:t>
            </a:r>
          </a:p>
          <a:p>
            <a:pPr>
              <a:lnSpc>
                <a:spcPct val="102000"/>
              </a:lnSpc>
              <a:spcAft>
                <a:spcPts val="2000"/>
              </a:spcAft>
            </a:pPr>
            <a:r>
              <a:rPr sz="1600">
                <a:solidFill>
                  <a:srgbClr val="00CC00"/>
                </a:solidFill>
                <a:latin typeface="Calibri"/>
              </a:rPr>
              <a:t>▪  </a:t>
            </a:r>
            <a:r>
              <a:rPr sz="1600" b="1">
                <a:solidFill>
                  <a:srgbClr val="000000"/>
                </a:solidFill>
                <a:latin typeface="Calibri"/>
              </a:rPr>
              <a:t>Pilot documents</a:t>
            </a:r>
            <a:r>
              <a:rPr sz="1600" b="0">
                <a:solidFill>
                  <a:srgbClr val="000000"/>
                </a:solidFill>
                <a:latin typeface="Calibri"/>
              </a:rPr>
              <a:t> — separate repository, </a:t>
            </a:r>
            <a:r>
              <a:rPr sz="1600" b="1">
                <a:solidFill>
                  <a:srgbClr val="000000"/>
                </a:solidFill>
                <a:latin typeface="Calibri"/>
              </a:rPr>
              <a:t>version unconfirmed</a:t>
            </a:r>
          </a:p>
        </p:txBody>
      </p:sp>
      <p:sp>
        <p:nvSpPr>
          <p:cNvPr id="7" name="TextBox 6"/>
          <p:cNvSpPr txBox="1"/>
          <p:nvPr/>
        </p:nvSpPr>
        <p:spPr>
          <a:xfrm>
            <a:off x="502920" y="6455664"/>
            <a:ext cx="8229600" cy="274320"/>
          </a:xfrm>
          <a:prstGeom prst="rect">
            <a:avLst/>
          </a:prstGeom>
          <a:noFill/>
        </p:spPr>
        <p:txBody>
          <a:bodyPr wrap="square" lIns="27432" rIns="27432" tIns="0" bIns="0">
            <a:spAutoFit/>
          </a:bodyPr>
          <a:lstStyle/>
          <a:p>
            <a:pPr algn="l">
              <a:lnSpc>
                <a:spcPct val="100000"/>
              </a:lnSpc>
              <a:spcAft>
                <a:spcPts val="400"/>
              </a:spcAft>
            </a:pPr>
            <a:r>
              <a:rPr sz="850" b="0">
                <a:solidFill>
                  <a:srgbClr val="808080"/>
                </a:solidFill>
                <a:latin typeface="Calibri"/>
              </a:rPr>
              <a:t>Supervaise Inc. — CJAP handover · repo pi/deployment-snapshots @ 2545882 (2026-08-31)</a:t>
            </a:r>
          </a:p>
        </p:txBody>
      </p:sp>
      <p:sp>
        <p:nvSpPr>
          <p:cNvPr id="8" name="TextBox 7"/>
          <p:cNvSpPr txBox="1"/>
          <p:nvPr/>
        </p:nvSpPr>
        <p:spPr>
          <a:xfrm>
            <a:off x="11064240" y="6455664"/>
            <a:ext cx="685800" cy="274320"/>
          </a:xfrm>
          <a:prstGeom prst="rect">
            <a:avLst/>
          </a:prstGeom>
          <a:noFill/>
        </p:spPr>
        <p:txBody>
          <a:bodyPr wrap="square" lIns="27432" rIns="27432" tIns="0" bIns="0">
            <a:spAutoFit/>
          </a:bodyPr>
          <a:lstStyle/>
          <a:p>
            <a:pPr algn="r">
              <a:lnSpc>
                <a:spcPct val="100000"/>
              </a:lnSpc>
              <a:spcAft>
                <a:spcPts val="400"/>
              </a:spcAft>
            </a:pPr>
            <a:r>
              <a:rPr sz="900" b="0">
                <a:solidFill>
                  <a:srgbClr val="808080"/>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